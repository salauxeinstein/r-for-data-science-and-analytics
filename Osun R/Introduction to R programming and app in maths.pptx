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1" r:id="rId27"/>
    <p:sldId id="279" r:id="rId28"/>
    <p:sldId id="282" r:id="rId29"/>
    <p:sldId id="283" r:id="rId30"/>
    <p:sldId id="284" r:id="rId31"/>
    <p:sldId id="280" r:id="rId32"/>
    <p:sldId id="29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b="42685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1778"/>
            <a:ext cx="9144000" cy="2387600"/>
          </a:xfrm>
        </p:spPr>
        <p:txBody>
          <a:bodyPr/>
          <a:lstStyle/>
          <a:p>
            <a:r>
              <a:rPr lang="en-US" b="1" dirty="0"/>
              <a:t>Introduction to R Programming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65475"/>
            <a:ext cx="9144000" cy="1367790"/>
          </a:xfrm>
        </p:spPr>
        <p:txBody>
          <a:bodyPr>
            <a:noAutofit/>
          </a:bodyPr>
          <a:lstStyle/>
          <a:p>
            <a:r>
              <a:rPr lang="en-US" sz="3200" b="1"/>
              <a:t>Introduction to R programming language and it’s application in mathematics</a:t>
            </a:r>
            <a:endParaRPr lang="en-US" sz="3200" b="1"/>
          </a:p>
          <a:p>
            <a:endParaRPr lang="en-US" sz="3200" b="1"/>
          </a:p>
          <a:p>
            <a:endParaRPr lang="en-US" sz="3200" b="1"/>
          </a:p>
        </p:txBody>
      </p:sp>
      <p:cxnSp>
        <p:nvCxnSpPr>
          <p:cNvPr id="5" name="Straight Connector 4"/>
          <p:cNvCxnSpPr/>
          <p:nvPr/>
        </p:nvCxnSpPr>
        <p:spPr>
          <a:xfrm>
            <a:off x="1341120" y="2902585"/>
            <a:ext cx="93681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4096385" y="5602605"/>
            <a:ext cx="38582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 b="1">
                <a:sym typeface="+mn-ea"/>
              </a:rPr>
              <a:t>Salau Ayobami Muhmmed</a:t>
            </a:r>
            <a:endParaRPr 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Software For This Virtual Class</a:t>
            </a:r>
            <a:endParaRPr lang="en-US" b="1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76495" y="1691005"/>
            <a:ext cx="2239010" cy="19926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38200" y="4076065"/>
            <a:ext cx="22218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The Question is:</a:t>
            </a:r>
            <a:endParaRPr 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4556760" y="5060315"/>
            <a:ext cx="324294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What is R?</a:t>
            </a:r>
            <a:endParaRPr lang="en-US" sz="2400" b="1"/>
          </a:p>
          <a:p>
            <a:r>
              <a:rPr lang="en-US" sz="2400" b="1"/>
              <a:t>Who has used R before?</a:t>
            </a:r>
            <a:endParaRPr lang="en-US" sz="2400" b="1"/>
          </a:p>
          <a:p>
            <a:r>
              <a:rPr lang="en-US" sz="2400" b="1"/>
              <a:t>What is it used for?</a:t>
            </a:r>
            <a:endParaRPr lang="en-US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88950" y="377190"/>
            <a:ext cx="4777105" cy="3907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/>
              <a:t>What is R?</a:t>
            </a:r>
            <a:endParaRPr lang="en-US" sz="3200" b="1"/>
          </a:p>
          <a:p>
            <a:r>
              <a:rPr lang="en-US" sz="2400" b="1"/>
              <a:t>▪ R is an open-source programming </a:t>
            </a:r>
            <a:endParaRPr lang="en-US" sz="2400" b="1"/>
          </a:p>
          <a:p>
            <a:r>
              <a:rPr lang="en-US" sz="2400" b="1"/>
              <a:t>language released in 1995 by </a:t>
            </a:r>
            <a:r>
              <a:rPr lang="en-US" sz="2400" b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Ross </a:t>
            </a:r>
            <a:endParaRPr lang="en-US" sz="2400" b="1">
              <a:solidFill>
                <a:schemeClr val="accent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sz="2400" b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Ihaka</a:t>
            </a:r>
            <a:r>
              <a:rPr lang="en-US" sz="2400" b="1"/>
              <a:t> and </a:t>
            </a:r>
            <a:r>
              <a:rPr lang="en-US" sz="2400" b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Robert Gentleman</a:t>
            </a:r>
            <a:r>
              <a:rPr lang="en-US" sz="2400" b="1"/>
              <a:t> to </a:t>
            </a:r>
            <a:endParaRPr lang="en-US" sz="2400" b="1"/>
          </a:p>
          <a:p>
            <a:r>
              <a:rPr lang="en-US" sz="2400" b="1"/>
              <a:t>improve the visualization and </a:t>
            </a:r>
            <a:endParaRPr lang="en-US" sz="2400" b="1"/>
          </a:p>
          <a:p>
            <a:r>
              <a:rPr lang="en-US" sz="2400" b="1"/>
              <a:t>data analysis features of a prior </a:t>
            </a:r>
            <a:endParaRPr lang="en-US" sz="2400" b="1"/>
          </a:p>
          <a:p>
            <a:r>
              <a:rPr lang="en-US" sz="2400" b="1"/>
              <a:t>syntax such as </a:t>
            </a:r>
            <a:r>
              <a:rPr lang="en-US" sz="2400" b="1">
                <a:solidFill>
                  <a:schemeClr val="accent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r>
              <a:rPr lang="en-US" sz="2400" b="1"/>
              <a:t>. </a:t>
            </a:r>
            <a:endParaRPr lang="en-US" sz="2400" b="1"/>
          </a:p>
          <a:p>
            <a:endParaRPr lang="en-US" sz="2400" b="1"/>
          </a:p>
          <a:p>
            <a:r>
              <a:rPr lang="en-US" sz="2400" b="1"/>
              <a:t>▪ R is named partly after the first </a:t>
            </a:r>
            <a:endParaRPr lang="en-US" sz="2400" b="1"/>
          </a:p>
          <a:p>
            <a:r>
              <a:rPr lang="en-US" sz="2400" b="1"/>
              <a:t>names of the first two R authors</a:t>
            </a:r>
            <a:endParaRPr lang="en-US" sz="24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50305" y="558800"/>
            <a:ext cx="4862195" cy="35445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873375" y="4761865"/>
            <a:ext cx="6682740" cy="1260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R vs Python</a:t>
            </a:r>
            <a:endParaRPr lang="en-US" sz="2800" b="1"/>
          </a:p>
          <a:p>
            <a:r>
              <a:rPr lang="en-US" sz="2400" b="1"/>
              <a:t>▪ R is mainly used for data analysis, while Python is used for general_x0002_purpose programing</a:t>
            </a:r>
            <a:endParaRPr lang="en-US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2070" y="329565"/>
            <a:ext cx="12088495" cy="45847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Objectives</a:t>
            </a:r>
            <a:endParaRPr lang="en-US" sz="2800" b="1"/>
          </a:p>
          <a:p>
            <a:r>
              <a:rPr lang="en-US" sz="2400" b="1"/>
              <a:t>▪ The objective of this workshop is to introduce you to R and RStudio, to learn the usage of R  and Introduction for Mathematics.</a:t>
            </a:r>
            <a:endParaRPr lang="en-US" sz="2400" b="1"/>
          </a:p>
          <a:p>
            <a:endParaRPr lang="en-US" sz="2400" b="1"/>
          </a:p>
          <a:p>
            <a:r>
              <a:rPr lang="en-US" sz="2400" b="1">
                <a:sym typeface="+mn-ea"/>
              </a:rPr>
              <a:t>▪ We plan on looking into R as a tool and simulate a learning experience that will make us be prepared for the next phase of our Data Science and Analytics career.</a:t>
            </a:r>
            <a:endParaRPr lang="en-US" sz="2400" b="1"/>
          </a:p>
          <a:p>
            <a:endParaRPr lang="en-US" sz="2400" b="1"/>
          </a:p>
          <a:p>
            <a:r>
              <a:rPr lang="en-US" sz="2400" b="1">
                <a:sym typeface="+mn-ea"/>
              </a:rPr>
              <a:t>▪</a:t>
            </a:r>
            <a:r>
              <a:rPr lang="en-US" sz="2400" b="1"/>
              <a:t> We also plan to make sure that R should be convenient to use for your Research no matter your discipline or Research Interest.</a:t>
            </a:r>
            <a:endParaRPr lang="en-US" sz="2400" b="1"/>
          </a:p>
          <a:p>
            <a:r>
              <a:rPr lang="en-US" sz="2400" b="1"/>
              <a:t>NB: </a:t>
            </a:r>
            <a:endParaRPr lang="en-US" sz="2400" b="1"/>
          </a:p>
          <a:p>
            <a:r>
              <a:rPr lang="en-US" sz="2400" b="1"/>
              <a:t>▪ To straighten out which is which: R is the name of the programming language itself and RStudio is a convenient interface.</a:t>
            </a:r>
            <a:endParaRPr lang="en-US" sz="2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19710" y="0"/>
            <a:ext cx="10033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/>
              <a:t>Here's a breakdown of what we will do: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olidFill>
                  <a:schemeClr val="accent5"/>
                </a:solidFill>
              </a:rPr>
              <a:t>Introduction to R and RStudio</a:t>
            </a:r>
            <a:endParaRPr lang="en-US" sz="2000" b="1"/>
          </a:p>
          <a:p>
            <a:r>
              <a:rPr lang="en-US" sz="2000" b="1"/>
              <a:t>- Overview of R and its applications in data science and data analytics</a:t>
            </a:r>
            <a:endParaRPr lang="en-US" sz="2000" b="1"/>
          </a:p>
          <a:p>
            <a:r>
              <a:rPr lang="en-US" sz="2000" b="1"/>
              <a:t>- Installing R and RStudio</a:t>
            </a:r>
            <a:endParaRPr lang="en-US" sz="2000" b="1"/>
          </a:p>
          <a:p>
            <a:r>
              <a:rPr lang="en-US" sz="2000" b="1"/>
              <a:t>- Understanding the RStudio interface</a:t>
            </a:r>
            <a:endParaRPr lang="en-US" sz="2000" b="1"/>
          </a:p>
          <a:p>
            <a:r>
              <a:rPr lang="en-US" sz="2000" b="1"/>
              <a:t>- Basic R syntax and data types</a:t>
            </a:r>
            <a:endParaRPr lang="en-US" sz="2000" b="1"/>
          </a:p>
          <a:p>
            <a:r>
              <a:rPr lang="en-US" sz="2000" b="1"/>
              <a:t>- Working with variables and basic arithmetic operations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olidFill>
                  <a:schemeClr val="accent5"/>
                </a:solidFill>
              </a:rPr>
              <a:t>Data Manipulation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/>
              <a:t>- Importing data into R from different file formats (e.g., CSV, Excel)</a:t>
            </a:r>
            <a:endParaRPr lang="en-US" sz="2000" b="1"/>
          </a:p>
          <a:p>
            <a:r>
              <a:rPr lang="en-US" sz="2000" b="1"/>
              <a:t>- Exploring and understanding data structures in R (vectors, matrices, data frames)</a:t>
            </a:r>
            <a:endParaRPr lang="en-US" sz="2000" b="1"/>
          </a:p>
          <a:p>
            <a:r>
              <a:rPr lang="en-US" sz="2000" b="1"/>
              <a:t>- Data cleaning and preprocessing techniques (handling missing values, data transformations)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olidFill>
                  <a:schemeClr val="accent5"/>
                </a:solidFill>
              </a:rPr>
              <a:t>Exploratory Data Analysis (EDA)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/>
              <a:t>- Introduction to descriptive statistics and visualization</a:t>
            </a:r>
            <a:endParaRPr lang="en-US" sz="2000" b="1"/>
          </a:p>
          <a:p>
            <a:r>
              <a:rPr lang="en-US" sz="2000" b="1"/>
              <a:t>- Generating summary statistics (mean, median, standard deviation, etc.)</a:t>
            </a:r>
            <a:endParaRPr lang="en-US" sz="2000" b="1"/>
          </a:p>
          <a:p>
            <a:r>
              <a:rPr lang="en-US" sz="2000" b="1"/>
              <a:t>- Creating basic data visualizations using ggplot2 package</a:t>
            </a:r>
            <a:endParaRPr lang="en-US" sz="2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3505" y="218440"/>
            <a:ext cx="1085215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sz="2000" b="1"/>
          </a:p>
          <a:p>
            <a:r>
              <a:rPr lang="en-US" sz="2000" b="1">
                <a:solidFill>
                  <a:schemeClr val="accent5"/>
                </a:solidFill>
                <a:sym typeface="+mn-ea"/>
              </a:rPr>
              <a:t>Statistical Analysis with R</a:t>
            </a:r>
            <a:endParaRPr lang="en-US" sz="2000" b="1"/>
          </a:p>
          <a:p>
            <a:r>
              <a:rPr lang="en-US" sz="2000" b="1">
                <a:sym typeface="+mn-ea"/>
              </a:rPr>
              <a:t>- Introduction to statistical concepts in R (hypothesis testing, confidence intervals)</a:t>
            </a:r>
            <a:endParaRPr lang="en-US" sz="2000" b="1"/>
          </a:p>
          <a:p>
            <a:r>
              <a:rPr lang="en-US" sz="2000" b="1">
                <a:sym typeface="+mn-ea"/>
              </a:rPr>
              <a:t>- Conducting t-tests and chi-square tests for categorical data</a:t>
            </a:r>
            <a:endParaRPr lang="en-US" sz="2000" b="1"/>
          </a:p>
          <a:p>
            <a:r>
              <a:rPr lang="en-US" sz="2000" b="1">
                <a:sym typeface="+mn-ea"/>
              </a:rPr>
              <a:t>- Performing linear regression analysis to model relationships between variables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olidFill>
                  <a:schemeClr val="accent5"/>
                </a:solidFill>
                <a:sym typeface="+mn-ea"/>
              </a:rPr>
              <a:t>Data Visualization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Advanced data visualization using ggplot2 package</a:t>
            </a:r>
            <a:endParaRPr lang="en-US" sz="2000" b="1"/>
          </a:p>
          <a:p>
            <a:r>
              <a:rPr lang="en-US" sz="2000" b="1">
                <a:sym typeface="+mn-ea"/>
              </a:rPr>
              <a:t>- Customizing plots (colors, labels, themes)</a:t>
            </a:r>
            <a:endParaRPr lang="en-US" sz="2000" b="1"/>
          </a:p>
          <a:p>
            <a:r>
              <a:rPr lang="en-US" sz="2000" b="1">
                <a:sym typeface="+mn-ea"/>
              </a:rPr>
              <a:t>- Creating complex visualizations such as bar plots, histograms, box plots, and heatmaps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olidFill>
                  <a:schemeClr val="accent5"/>
                </a:solidFill>
                <a:sym typeface="+mn-ea"/>
              </a:rPr>
              <a:t>Introduction to Machine Learning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Overview of machine learning concepts and algorithms</a:t>
            </a:r>
            <a:endParaRPr lang="en-US" sz="2000" b="1"/>
          </a:p>
          <a:p>
            <a:r>
              <a:rPr lang="en-US" sz="2000" b="1">
                <a:sym typeface="+mn-ea"/>
              </a:rPr>
              <a:t>- Supervised learning: classification and regression</a:t>
            </a:r>
            <a:endParaRPr lang="en-US" sz="2000" b="1"/>
          </a:p>
          <a:p>
            <a:r>
              <a:rPr lang="en-US" sz="2000" b="1">
                <a:sym typeface="+mn-ea"/>
              </a:rPr>
              <a:t>- Unsupervised learning: clustering and dimensionality reduction</a:t>
            </a:r>
            <a:endParaRPr lang="en-US" sz="2000" b="1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123190"/>
            <a:ext cx="709676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olidFill>
                  <a:schemeClr val="accent5"/>
                </a:solidFill>
                <a:sym typeface="+mn-ea"/>
              </a:rPr>
              <a:t>Data Wrangling and Transformation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Advanced data manipulation techniques using dplyr and tidyr packages</a:t>
            </a:r>
            <a:endParaRPr lang="en-US" sz="2000" b="1"/>
          </a:p>
          <a:p>
            <a:r>
              <a:rPr lang="en-US" sz="2000" b="1">
                <a:sym typeface="+mn-ea"/>
              </a:rPr>
              <a:t>- Aggregating and summarizing data</a:t>
            </a:r>
            <a:endParaRPr lang="en-US" sz="2000" b="1"/>
          </a:p>
          <a:p>
            <a:r>
              <a:rPr lang="en-US" sz="2000" b="1">
                <a:sym typeface="+mn-ea"/>
              </a:rPr>
              <a:t>- Reshaping data from wide to long format and vice versa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olidFill>
                  <a:schemeClr val="accent5"/>
                </a:solidFill>
                <a:sym typeface="+mn-ea"/>
              </a:rPr>
              <a:t>Introduction to Big Data Analytics with R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Overview of big data concepts and challenges</a:t>
            </a:r>
            <a:endParaRPr lang="en-US" sz="2000" b="1"/>
          </a:p>
          <a:p>
            <a:r>
              <a:rPr lang="en-US" sz="2000" b="1">
                <a:sym typeface="+mn-ea"/>
              </a:rPr>
              <a:t>- Introduction to parallel computing and distributed systems</a:t>
            </a:r>
            <a:endParaRPr lang="en-US" sz="2000" b="1"/>
          </a:p>
          <a:p>
            <a:r>
              <a:rPr lang="en-US" sz="2000" b="1">
                <a:sym typeface="+mn-ea"/>
              </a:rPr>
              <a:t>- Working with big data using R packages (e.g., dplyr, data.table)</a:t>
            </a:r>
            <a:endParaRPr lang="en-US" sz="2000" b="1"/>
          </a:p>
          <a:p>
            <a:endParaRPr lang="en-US" sz="2000" b="1"/>
          </a:p>
          <a:p>
            <a:r>
              <a:rPr lang="en-US" sz="2000" b="1">
                <a:solidFill>
                  <a:schemeClr val="accent5"/>
                </a:solidFill>
                <a:sym typeface="+mn-ea"/>
              </a:rPr>
              <a:t>Data Science Project Workflow</a:t>
            </a:r>
            <a:endParaRPr lang="en-US" sz="2000" b="1"/>
          </a:p>
          <a:p>
            <a:r>
              <a:rPr lang="en-US" sz="2000" b="1">
                <a:sym typeface="+mn-ea"/>
              </a:rPr>
              <a:t>- Understanding the end-to-end data science project lifecycle</a:t>
            </a:r>
            <a:endParaRPr lang="en-US" sz="2000" b="1"/>
          </a:p>
          <a:p>
            <a:r>
              <a:rPr lang="en-US" sz="2000" b="1">
                <a:sym typeface="+mn-ea"/>
              </a:rPr>
              <a:t>- Formulating a data problem and defining project objectives</a:t>
            </a:r>
            <a:endParaRPr lang="en-US" sz="2000" b="1"/>
          </a:p>
          <a:p>
            <a:r>
              <a:rPr lang="en-US" sz="2000" b="1">
                <a:sym typeface="+mn-ea"/>
              </a:rPr>
              <a:t>- Data acquisition and preparation</a:t>
            </a:r>
            <a:endParaRPr lang="en-US" sz="2000" b="1"/>
          </a:p>
          <a:p>
            <a:r>
              <a:rPr lang="en-US" sz="2000" b="1">
                <a:sym typeface="+mn-ea"/>
              </a:rPr>
              <a:t>- Exploratory data analysis and feature engineering</a:t>
            </a:r>
            <a:endParaRPr lang="en-US" sz="20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097395" y="377190"/>
            <a:ext cx="490093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ym typeface="+mn-ea"/>
              </a:rPr>
              <a:t>Extras(To be given as a project or assignment)</a:t>
            </a:r>
            <a:endParaRPr lang="en-US" sz="2000" b="1"/>
          </a:p>
          <a:p>
            <a:r>
              <a:rPr lang="en-US" sz="2000" b="1">
                <a:sym typeface="+mn-ea"/>
              </a:rPr>
              <a:t> </a:t>
            </a:r>
            <a:r>
              <a:rPr lang="en-US" sz="2000" b="1">
                <a:solidFill>
                  <a:schemeClr val="accent5"/>
                </a:solidFill>
                <a:sym typeface="+mn-ea"/>
              </a:rPr>
              <a:t>Case Studies and Practical Applications</a:t>
            </a:r>
            <a:endParaRPr lang="en-US" sz="2000" b="1">
              <a:solidFill>
                <a:schemeClr val="accent5"/>
              </a:solidFill>
            </a:endParaRPr>
          </a:p>
          <a:p>
            <a:r>
              <a:rPr lang="en-US" sz="2000" b="1">
                <a:sym typeface="+mn-ea"/>
              </a:rPr>
              <a:t>- Applying R in real-world data science and data analytics scenarios</a:t>
            </a:r>
            <a:endParaRPr lang="en-US" sz="2000" b="1"/>
          </a:p>
          <a:p>
            <a:r>
              <a:rPr lang="en-US" sz="2000" b="1">
                <a:sym typeface="+mn-ea"/>
              </a:rPr>
              <a:t>- Case studies across various domains (e.g., finance, healthcare, marketing)</a:t>
            </a:r>
            <a:endParaRPr lang="en-US" sz="2000" b="1"/>
          </a:p>
          <a:p>
            <a:r>
              <a:rPr lang="en-US" sz="2000" b="1">
                <a:sym typeface="+mn-ea"/>
              </a:rPr>
              <a:t>- Solving practical problems using R and relevant packages</a:t>
            </a:r>
            <a:endParaRPr lang="en-US" sz="2000" b="1"/>
          </a:p>
          <a:p>
            <a:r>
              <a:rPr lang="en-US" sz="2000" b="1">
                <a:sym typeface="+mn-ea"/>
              </a:rPr>
              <a:t>- Presenting and interpreting results effectively</a:t>
            </a:r>
            <a:endParaRPr lang="en-US" sz="2000" b="1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03605" y="1104900"/>
            <a:ext cx="809180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 b="1">
                <a:solidFill>
                  <a:schemeClr val="accent5"/>
                </a:solidFill>
                <a:sym typeface="+mn-ea"/>
              </a:rPr>
              <a:t>Introduction to R and RStudio</a:t>
            </a:r>
            <a:endParaRPr lang="en-US" sz="2400" b="1"/>
          </a:p>
          <a:p>
            <a:r>
              <a:rPr lang="en-US" sz="2400" b="1">
                <a:sym typeface="+mn-ea"/>
              </a:rPr>
              <a:t>- Overview of R and its applications in data science and data analytics</a:t>
            </a:r>
            <a:endParaRPr lang="en-US" sz="2400" b="1"/>
          </a:p>
          <a:p>
            <a:r>
              <a:rPr lang="en-US" sz="2400" b="1">
                <a:sym typeface="+mn-ea"/>
              </a:rPr>
              <a:t>- Installing R and RStudio</a:t>
            </a:r>
            <a:endParaRPr lang="en-US" sz="2400" b="1"/>
          </a:p>
          <a:p>
            <a:r>
              <a:rPr lang="en-US" sz="2400" b="1">
                <a:sym typeface="+mn-ea"/>
              </a:rPr>
              <a:t>- Understanding the RStudio interface</a:t>
            </a:r>
            <a:endParaRPr lang="en-US" sz="2400" b="1"/>
          </a:p>
          <a:p>
            <a:r>
              <a:rPr lang="en-US" sz="2400" b="1">
                <a:sym typeface="+mn-ea"/>
              </a:rPr>
              <a:t>- Basic R syntax and data types</a:t>
            </a:r>
            <a:endParaRPr lang="en-US" sz="2400" b="1"/>
          </a:p>
          <a:p>
            <a:r>
              <a:rPr lang="en-US" sz="2400" b="1">
                <a:sym typeface="+mn-ea"/>
              </a:rPr>
              <a:t>- Working with variables and basic arithmetic operations</a:t>
            </a:r>
            <a:endParaRPr lang="en-US" sz="24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03605" y="417830"/>
            <a:ext cx="15360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Let’s Begin</a:t>
            </a:r>
            <a:endParaRPr lang="en-US" sz="24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87630"/>
            <a:ext cx="762127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>
              <a:buFont typeface="Wingdings" panose="05000000000000000000" charset="0"/>
              <a:buChar char="§"/>
            </a:pPr>
            <a:r>
              <a:rPr lang="en-US" sz="2000" b="1">
                <a:sym typeface="+mn-ea"/>
              </a:rPr>
              <a:t>Overview of R and its applications in data science and data analytics</a:t>
            </a:r>
            <a:endParaRPr lang="en-US" sz="20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1140" y="486410"/>
            <a:ext cx="11470640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Applications of R in Data Science</a:t>
            </a:r>
            <a:endParaRPr lang="en-US" b="1"/>
          </a:p>
          <a:p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Exploratory Data Analysis:</a:t>
            </a:r>
            <a:r>
              <a:rPr lang="en-US" b="1"/>
              <a:t> R is widely used for exploratory data analysis to gain insights and understand patterns in data.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Statistical Modeling: </a:t>
            </a:r>
            <a:r>
              <a:rPr lang="en-US" b="1"/>
              <a:t>R provides a robust framework for statistical modeling, allowing data scientists to build regression models, time series analysis, and other statistical techniques.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Machine Learning:</a:t>
            </a:r>
            <a:r>
              <a:rPr lang="en-US" b="1"/>
              <a:t> R offers a wide range of machine learning algorithms and frameworks, making it suitable for tasks like classification, regression, and recommendation systems.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Natural Language Processing:</a:t>
            </a:r>
            <a:r>
              <a:rPr lang="en-US" b="1"/>
              <a:t> R has packages for natural language processing tasks such as text mining, sentiment analysis, and language modeling.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Data Visualization:</a:t>
            </a:r>
            <a:r>
              <a:rPr lang="en-US" b="1"/>
              <a:t> R's visualization libraries, such as ggplot2, enable data scientists to create interactive and visually appealing plots and charts.</a:t>
            </a:r>
            <a:endParaRPr lang="en-US" b="1"/>
          </a:p>
          <a:p>
            <a:endParaRPr lang="en-US" b="1"/>
          </a:p>
          <a:p>
            <a:r>
              <a:rPr lang="en-US" b="1"/>
              <a:t>Applications of R in Data Analytics</a:t>
            </a:r>
            <a:endParaRPr lang="en-US" b="1"/>
          </a:p>
          <a:p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Business Analytics:</a:t>
            </a:r>
            <a:r>
              <a:rPr lang="en-US" b="1"/>
              <a:t> R is used in business analytics for tasks like forecasting sales, customer segmentation, and market basket analysis.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Financial Analysis:</a:t>
            </a:r>
            <a:r>
              <a:rPr lang="en-US" b="1"/>
              <a:t> R is employed in financial analysis for portfolio optimization, risk modeling, and financial forecasting.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Healthcare Analytics: </a:t>
            </a:r>
            <a:r>
              <a:rPr lang="en-US" b="1"/>
              <a:t>R is utilized in healthcare analytics for tasks like disease prediction, patient monitoring, and medical image analysis.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Social Media Analytics:</a:t>
            </a:r>
            <a:r>
              <a:rPr lang="en-US" b="1"/>
              <a:t> R can be applied to analyze social media data, sentiment analysis, and social network analysis.</a:t>
            </a:r>
            <a:endParaRPr lang="en-US" b="1"/>
          </a:p>
          <a:p>
            <a:r>
              <a:rPr lang="en-US" b="1" u="sng">
                <a:solidFill>
                  <a:schemeClr val="accent5"/>
                </a:solidFill>
              </a:rPr>
              <a:t>Marketing Analytics:</a:t>
            </a:r>
            <a:r>
              <a:rPr lang="en-US" b="1"/>
              <a:t> R is used for customer segmentation, churn prediction, and marketing campaign analysis.</a:t>
            </a:r>
            <a:endParaRPr 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769620" y="257175"/>
            <a:ext cx="272478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b="1">
                <a:sym typeface="+mn-ea"/>
              </a:rPr>
              <a:t> </a:t>
            </a:r>
            <a:r>
              <a:rPr lang="en-US" sz="2000" b="1">
                <a:sym typeface="+mn-ea"/>
              </a:rPr>
              <a:t>Installing R and RStudio</a:t>
            </a:r>
            <a:endParaRPr lang="en-US" sz="20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26000" y="785495"/>
            <a:ext cx="2540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/>
              <a:t>Installation of R</a:t>
            </a:r>
            <a:endParaRPr lang="en-US" sz="2000" b="1"/>
          </a:p>
        </p:txBody>
      </p:sp>
      <p:sp>
        <p:nvSpPr>
          <p:cNvPr id="6" name="Text Box 5"/>
          <p:cNvSpPr txBox="1"/>
          <p:nvPr/>
        </p:nvSpPr>
        <p:spPr>
          <a:xfrm>
            <a:off x="166370" y="1649730"/>
            <a:ext cx="615442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/>
              <a:t>Installing R</a:t>
            </a:r>
            <a:endParaRPr lang="en-US" sz="2000" b="1"/>
          </a:p>
          <a:p>
            <a:r>
              <a:rPr lang="en-US" sz="2000" b="1"/>
              <a:t>▪ R is available for free on the Comprehensive R Archive Network </a:t>
            </a:r>
            <a:endParaRPr lang="en-US" sz="2000" b="1"/>
          </a:p>
          <a:p>
            <a:r>
              <a:rPr lang="en-US" sz="2000" b="1"/>
              <a:t>(CRAN) website</a:t>
            </a:r>
            <a:endParaRPr lang="en-US" sz="2000" b="1"/>
          </a:p>
          <a:p>
            <a:r>
              <a:rPr lang="en-US" sz="2000" b="1"/>
              <a:t>▪ Step 1: Open the R Project Homepage: </a:t>
            </a:r>
            <a:r>
              <a:rPr lang="en-US" sz="2000" b="1" u="sng">
                <a:solidFill>
                  <a:schemeClr val="accent5"/>
                </a:solidFill>
              </a:rPr>
              <a:t>www.r-project.org</a:t>
            </a:r>
            <a:endParaRPr lang="en-US" sz="2000" b="1"/>
          </a:p>
          <a:p>
            <a:r>
              <a:rPr lang="en-US" sz="2000" b="1"/>
              <a:t>▪ Step 2: Click on the “CRAN” link on the menu on the left-hand side of the page. Pick </a:t>
            </a:r>
            <a:endParaRPr lang="en-US" sz="2000" b="1"/>
          </a:p>
          <a:p>
            <a:r>
              <a:rPr lang="en-US" sz="2000" b="1"/>
              <a:t>the server that is (geographically) closest to you.</a:t>
            </a:r>
            <a:endParaRPr lang="en-US" sz="2000" b="1"/>
          </a:p>
          <a:p>
            <a:r>
              <a:rPr lang="en-US" sz="2000" b="1"/>
              <a:t>▪ Step 3: Find your operating system (Windows, Macintosh, Linux, etc.) under </a:t>
            </a:r>
            <a:endParaRPr lang="en-US" sz="2000" b="1"/>
          </a:p>
          <a:p>
            <a:r>
              <a:rPr lang="en-US" sz="2000" b="1"/>
              <a:t>“Precompiled Binary Distributions”. These are the ready-to-install files containing the </a:t>
            </a:r>
            <a:endParaRPr lang="en-US" sz="2000" b="1"/>
          </a:p>
          <a:p>
            <a:r>
              <a:rPr lang="en-US" sz="2000" b="1"/>
              <a:t>base R package, and are the easiest way to get R up and running on your machine.</a:t>
            </a:r>
            <a:endParaRPr lang="en-US" sz="2000" b="1"/>
          </a:p>
        </p:txBody>
      </p:sp>
      <p:sp>
        <p:nvSpPr>
          <p:cNvPr id="7" name="Text Box 6"/>
          <p:cNvSpPr txBox="1"/>
          <p:nvPr/>
        </p:nvSpPr>
        <p:spPr>
          <a:xfrm>
            <a:off x="6546215" y="1649730"/>
            <a:ext cx="537654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/>
              <a:t>▪ Windows:</a:t>
            </a:r>
            <a:endParaRPr lang="en-US" sz="2000" b="1"/>
          </a:p>
          <a:p>
            <a:r>
              <a:rPr lang="en-US" sz="2000" b="1"/>
              <a:t>▪ Click </a:t>
            </a:r>
            <a:r>
              <a:rPr lang="en-US" sz="2000" b="1" u="sng">
                <a:solidFill>
                  <a:schemeClr val="accent5"/>
                </a:solidFill>
              </a:rPr>
              <a:t>Download R for Windows.</a:t>
            </a:r>
            <a:r>
              <a:rPr lang="en-US" sz="2000" b="1"/>
              <a:t> </a:t>
            </a:r>
            <a:endParaRPr lang="en-US" sz="2000" b="1"/>
          </a:p>
          <a:p>
            <a:r>
              <a:rPr lang="en-US" sz="2000" b="1"/>
              <a:t>▪ Click </a:t>
            </a:r>
            <a:r>
              <a:rPr lang="en-US" sz="2000" b="1" u="sng">
                <a:solidFill>
                  <a:schemeClr val="accent5"/>
                </a:solidFill>
              </a:rPr>
              <a:t>base.</a:t>
            </a:r>
            <a:endParaRPr lang="en-US" sz="2000" b="1"/>
          </a:p>
          <a:p>
            <a:r>
              <a:rPr lang="en-US" sz="2000" b="1"/>
              <a:t>▪ Click</a:t>
            </a:r>
            <a:r>
              <a:rPr lang="en-US" sz="2000" b="1" u="sng">
                <a:solidFill>
                  <a:schemeClr val="accent5"/>
                </a:solidFill>
              </a:rPr>
              <a:t> Download R-4.2.2 for Windows.</a:t>
            </a:r>
            <a:r>
              <a:rPr lang="en-US" sz="2000" b="1"/>
              <a:t> Save it to a file on your hard drive. (Note: the </a:t>
            </a:r>
            <a:endParaRPr lang="en-US" sz="2000" b="1"/>
          </a:p>
          <a:p>
            <a:r>
              <a:rPr lang="en-US" sz="2000" b="1"/>
              <a:t>installation file is about 76 Megabytes. If you have a slow Internet connection, download </a:t>
            </a:r>
            <a:endParaRPr lang="en-US" sz="2000" b="1"/>
          </a:p>
          <a:p>
            <a:r>
              <a:rPr lang="en-US" sz="2000" b="1"/>
              <a:t>the installation file on a machine with a fast connection.</a:t>
            </a:r>
            <a:endParaRPr lang="en-US" sz="2000" b="1"/>
          </a:p>
          <a:p>
            <a:r>
              <a:rPr lang="en-US" sz="2000" b="1"/>
              <a:t>▪ Find the installation file “R-4.2.2-win.exe” on your hard drive.</a:t>
            </a:r>
            <a:endParaRPr lang="en-US" sz="2000" b="1"/>
          </a:p>
          <a:p>
            <a:r>
              <a:rPr lang="en-US" sz="2000" b="1"/>
              <a:t>▪ Close all other programs before beginning the installation. </a:t>
            </a:r>
            <a:endParaRPr lang="en-US" sz="2000" b="1"/>
          </a:p>
          <a:p>
            <a:r>
              <a:rPr lang="en-US" sz="2000" b="1"/>
              <a:t>▪ Run the installation program with administrative privileges.</a:t>
            </a:r>
            <a:endParaRPr lang="en-US" sz="20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89635" y="880110"/>
            <a:ext cx="10413365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 b="1"/>
              <a:t>Installing R</a:t>
            </a:r>
            <a:endParaRPr lang="en-US" sz="2400" b="1"/>
          </a:p>
          <a:p>
            <a:endParaRPr lang="en-US" sz="2000" b="1"/>
          </a:p>
          <a:p>
            <a:r>
              <a:rPr lang="en-US" sz="2400" b="1"/>
              <a:t>▪ Mac OS X :</a:t>
            </a:r>
            <a:endParaRPr lang="en-US" sz="2400" b="1"/>
          </a:p>
          <a:p>
            <a:r>
              <a:rPr lang="en-US" sz="2400" b="1"/>
              <a:t>▪ Click </a:t>
            </a:r>
            <a:r>
              <a:rPr lang="en-US" sz="2400" b="1" u="sng">
                <a:solidFill>
                  <a:schemeClr val="accent5"/>
                </a:solidFill>
              </a:rPr>
              <a:t>Download R for macOS. </a:t>
            </a:r>
            <a:endParaRPr lang="en-US" sz="2400" b="1"/>
          </a:p>
          <a:p>
            <a:r>
              <a:rPr lang="en-US" sz="2400" b="1"/>
              <a:t>▪ Click either </a:t>
            </a:r>
            <a:r>
              <a:rPr lang="en-US" sz="2400" b="1" u="sng">
                <a:solidFill>
                  <a:schemeClr val="accent5"/>
                </a:solidFill>
              </a:rPr>
              <a:t>R-4.2.2-arm64.pkg</a:t>
            </a:r>
            <a:r>
              <a:rPr lang="en-US" sz="2400" b="1"/>
              <a:t> or </a:t>
            </a:r>
            <a:r>
              <a:rPr lang="en-US" sz="2400" b="1" u="sng">
                <a:solidFill>
                  <a:schemeClr val="accent5"/>
                </a:solidFill>
              </a:rPr>
              <a:t>R-4.2.2.pkg</a:t>
            </a:r>
            <a:r>
              <a:rPr lang="en-US" sz="2400" b="1"/>
              <a:t> to download R based on your            computer settings.</a:t>
            </a:r>
            <a:endParaRPr lang="en-US" sz="2400" b="1"/>
          </a:p>
          <a:p>
            <a:r>
              <a:rPr lang="en-US" sz="2400" b="1"/>
              <a:t>▪ To install R, simply double-click on the icon of the downloaded package file.</a:t>
            </a:r>
            <a:endParaRPr lang="en-US" sz="2400" b="1"/>
          </a:p>
          <a:p>
            <a:endParaRPr lang="en-US" sz="2400" b="1"/>
          </a:p>
          <a:p>
            <a:endParaRPr lang="en-US" sz="2400" b="1"/>
          </a:p>
          <a:p>
            <a:r>
              <a:rPr lang="en-US" sz="2400" b="1"/>
              <a:t>▪ Linux</a:t>
            </a:r>
            <a:endParaRPr lang="en-US" sz="2400" b="1"/>
          </a:p>
          <a:p>
            <a:r>
              <a:rPr lang="en-US" sz="2400" b="1"/>
              <a:t>▪ Follow the instruction to install appropriate package</a:t>
            </a:r>
            <a:endParaRPr lang="en-US" sz="24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5560" y="1388745"/>
            <a:ext cx="9444990" cy="4924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2310" y="1102360"/>
            <a:ext cx="10304145" cy="5074920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972820" y="4646295"/>
            <a:ext cx="6983095" cy="17399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9905" y="777240"/>
            <a:ext cx="11285220" cy="5883910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3843020" y="2150110"/>
            <a:ext cx="1775460" cy="158115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7030" y="775970"/>
            <a:ext cx="10950575" cy="5790565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2471420" y="1428750"/>
            <a:ext cx="579120" cy="158115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0540" y="254635"/>
            <a:ext cx="5556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 – Demo for Windows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9770" y="776605"/>
            <a:ext cx="10662285" cy="5992495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2963545" y="1227455"/>
            <a:ext cx="2841625" cy="29972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80670" y="184785"/>
            <a:ext cx="45167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/>
              <a:t>Installation of RStudio</a:t>
            </a:r>
            <a:endParaRPr lang="en-US" sz="3200" b="1"/>
          </a:p>
        </p:txBody>
      </p:sp>
      <p:sp>
        <p:nvSpPr>
          <p:cNvPr id="5" name="Text Box 4"/>
          <p:cNvSpPr txBox="1"/>
          <p:nvPr/>
        </p:nvSpPr>
        <p:spPr>
          <a:xfrm>
            <a:off x="2632710" y="1303020"/>
            <a:ext cx="7445375" cy="2738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RStudio</a:t>
            </a:r>
            <a:endParaRPr lang="en-US" sz="2800" b="1"/>
          </a:p>
          <a:p>
            <a:r>
              <a:rPr lang="en-US" sz="2400" b="1"/>
              <a:t>▪ RStudio Integrated development environment (IDE) is a powerful and productive user interface for R. It’s free and open source, and works great on Windows, Mac, and Linux.</a:t>
            </a:r>
            <a:endParaRPr lang="en-US" sz="2400" b="1"/>
          </a:p>
          <a:p>
            <a:endParaRPr lang="en-US" sz="2400" b="1"/>
          </a:p>
          <a:p>
            <a:r>
              <a:rPr lang="en-US" sz="2400" b="1"/>
              <a:t>▪ Download: </a:t>
            </a:r>
            <a:r>
              <a:rPr lang="en-US" sz="2400" b="1" u="sng">
                <a:solidFill>
                  <a:schemeClr val="accent5"/>
                </a:solidFill>
              </a:rPr>
              <a:t>www.rstudio.com</a:t>
            </a:r>
            <a:endParaRPr lang="en-US" sz="2400" b="1" u="sng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7025" y="702945"/>
            <a:ext cx="11176000" cy="54584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98450" y="181610"/>
            <a:ext cx="254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RStudio</a:t>
            </a:r>
            <a:endParaRPr lang="en-US" sz="28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721995" y="241935"/>
            <a:ext cx="3973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RStudio - Demo</a:t>
            </a:r>
            <a:endParaRPr lang="en-US" sz="2800" b="1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9245" y="763905"/>
            <a:ext cx="11269980" cy="5633085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8319770" y="763905"/>
            <a:ext cx="1501140" cy="49530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1360" y="763270"/>
            <a:ext cx="10812780" cy="57454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1995" y="241935"/>
            <a:ext cx="3973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RStudio - Demo</a:t>
            </a:r>
            <a:endParaRPr lang="en-US" sz="2800" b="1"/>
          </a:p>
        </p:txBody>
      </p:sp>
      <p:sp>
        <p:nvSpPr>
          <p:cNvPr id="9" name="Rectangles 8"/>
          <p:cNvSpPr/>
          <p:nvPr/>
        </p:nvSpPr>
        <p:spPr>
          <a:xfrm>
            <a:off x="2375535" y="5502275"/>
            <a:ext cx="1501140" cy="49530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2630" y="764540"/>
            <a:ext cx="10826115" cy="59702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1995" y="241935"/>
            <a:ext cx="3973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RStudio - Demo</a:t>
            </a:r>
            <a:endParaRPr lang="en-US" sz="2800" b="1"/>
          </a:p>
        </p:txBody>
      </p:sp>
      <p:sp>
        <p:nvSpPr>
          <p:cNvPr id="9" name="Rectangles 8"/>
          <p:cNvSpPr/>
          <p:nvPr/>
        </p:nvSpPr>
        <p:spPr>
          <a:xfrm>
            <a:off x="2346960" y="3917950"/>
            <a:ext cx="2750820" cy="690880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763270"/>
            <a:ext cx="11775440" cy="60947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1995" y="241935"/>
            <a:ext cx="3973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Installing RStudio - Demo</a:t>
            </a:r>
            <a:endParaRPr lang="en-US" sz="28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93675" y="560070"/>
            <a:ext cx="400367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 b="1"/>
              <a:t>R Interface</a:t>
            </a:r>
            <a:endParaRPr lang="en-US" sz="3600" b="1"/>
          </a:p>
          <a:p>
            <a:endParaRPr lang="en-US" sz="3200" b="1"/>
          </a:p>
          <a:p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  Open R interface:</a:t>
            </a:r>
            <a:endParaRPr lang="en-US" sz="2800" b="1"/>
          </a:p>
          <a:p>
            <a:r>
              <a:rPr lang="en-US" sz="2800" b="1"/>
              <a:t>       </a:t>
            </a:r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Open Start Menu</a:t>
            </a:r>
            <a:endParaRPr lang="en-US" sz="2800" b="1"/>
          </a:p>
          <a:p>
            <a:r>
              <a:rPr lang="en-US" sz="2800" b="1"/>
              <a:t>       </a:t>
            </a:r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Go to the folder R</a:t>
            </a:r>
            <a:endParaRPr lang="en-US" sz="2800" b="1"/>
          </a:p>
          <a:p>
            <a:r>
              <a:rPr lang="en-US" sz="2800" b="1"/>
              <a:t>       </a:t>
            </a:r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Click R.4.2.2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81500" y="560070"/>
            <a:ext cx="7546975" cy="61455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19380" y="422910"/>
            <a:ext cx="406209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 b="1"/>
              <a:t>RStudio Interface</a:t>
            </a:r>
            <a:endParaRPr lang="en-US" sz="3600" b="1"/>
          </a:p>
          <a:p>
            <a:endParaRPr lang="en-US" sz="3600" b="1"/>
          </a:p>
          <a:p>
            <a:r>
              <a:rPr lang="en-US" sz="2800" b="1">
                <a:solidFill>
                  <a:schemeClr val="accent5"/>
                </a:solidFill>
              </a:rPr>
              <a:t>▪</a:t>
            </a:r>
            <a:r>
              <a:rPr lang="en-US" sz="2800" b="1"/>
              <a:t>  Open RStudio interface:</a:t>
            </a:r>
            <a:endParaRPr lang="en-US" sz="2400" b="1"/>
          </a:p>
          <a:p>
            <a:r>
              <a:rPr lang="en-US" sz="2400" b="1"/>
              <a:t>        </a:t>
            </a:r>
            <a:r>
              <a:rPr lang="en-US" sz="2400" b="1">
                <a:solidFill>
                  <a:schemeClr val="accent5"/>
                </a:solidFill>
              </a:rPr>
              <a:t>▪</a:t>
            </a:r>
            <a:r>
              <a:rPr lang="en-US" sz="2400" b="1"/>
              <a:t> Open Start Menu</a:t>
            </a:r>
            <a:endParaRPr lang="en-US" sz="2400" b="1"/>
          </a:p>
          <a:p>
            <a:r>
              <a:rPr lang="en-US" sz="2400" b="1"/>
              <a:t>        </a:t>
            </a:r>
            <a:r>
              <a:rPr lang="en-US" sz="2400" b="1">
                <a:solidFill>
                  <a:schemeClr val="accent5"/>
                </a:solidFill>
              </a:rPr>
              <a:t>▪</a:t>
            </a:r>
            <a:r>
              <a:rPr lang="en-US" sz="2400" b="1"/>
              <a:t> Go to the folder RStudio</a:t>
            </a:r>
            <a:endParaRPr lang="en-US" sz="2400" b="1"/>
          </a:p>
          <a:p>
            <a:r>
              <a:rPr lang="en-US" sz="2400" b="1"/>
              <a:t>        </a:t>
            </a:r>
            <a:r>
              <a:rPr lang="en-US" sz="2400" b="1">
                <a:solidFill>
                  <a:schemeClr val="accent5"/>
                </a:solidFill>
              </a:rPr>
              <a:t>▪</a:t>
            </a:r>
            <a:r>
              <a:rPr lang="en-US" sz="2400" b="1"/>
              <a:t> Click RStudio</a:t>
            </a:r>
            <a:endParaRPr lang="en-US" sz="2400" b="1"/>
          </a:p>
          <a:p>
            <a:endParaRPr lang="en-US" sz="2400" b="1"/>
          </a:p>
          <a:p>
            <a:endParaRPr lang="en-US" sz="2400" b="1"/>
          </a:p>
          <a:p>
            <a:endParaRPr lang="en-US" sz="2400" b="1"/>
          </a:p>
          <a:p>
            <a:r>
              <a:rPr lang="en-US" i="1"/>
              <a:t>Note: RStudio appearance can be changed</a:t>
            </a:r>
            <a:endParaRPr lang="en-US" i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14520" y="422910"/>
            <a:ext cx="7510780" cy="61309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13690" y="197485"/>
            <a:ext cx="30911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3200" b="1">
                <a:sym typeface="+mn-ea"/>
              </a:rPr>
              <a:t>RStudio Interface</a:t>
            </a:r>
            <a:endParaRPr lang="en-US" sz="3200" b="1">
              <a:sym typeface="+mn-ea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9765" y="781050"/>
            <a:ext cx="11127105" cy="58635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807845" y="2244090"/>
            <a:ext cx="37318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FFC000"/>
                </a:solidFill>
              </a:rPr>
              <a:t>The source panel is where you write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your script.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028180" y="2244090"/>
            <a:ext cx="4335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FFC000"/>
                </a:solidFill>
              </a:rPr>
              <a:t>The workspace tab shows all the active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objects. The history tab shows a list of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commands used so far.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807845" y="5605780"/>
            <a:ext cx="40176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FFC000"/>
                </a:solidFill>
              </a:rPr>
              <a:t>The console panel is where you can type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commands and see output.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831330" y="4220845"/>
            <a:ext cx="435038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FFC000"/>
                </a:solidFill>
              </a:rPr>
              <a:t>The files tab shows all the files and folders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in your default workspace as if you were on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a PC/Mac window. The plots tab will show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all your graphs. The packages tab will list a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series of packages or add-ons needed to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run certain processes. For additional info </a:t>
            </a:r>
            <a:endParaRPr lang="en-US">
              <a:solidFill>
                <a:srgbClr val="FFC000"/>
              </a:solidFill>
            </a:endParaRPr>
          </a:p>
          <a:p>
            <a:r>
              <a:rPr lang="en-US">
                <a:solidFill>
                  <a:srgbClr val="FFC000"/>
                </a:solidFill>
              </a:rPr>
              <a:t>see the help tab.</a:t>
            </a:r>
            <a:endParaRPr 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23520" y="178435"/>
            <a:ext cx="47123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Change Working Directory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4155" y="701040"/>
            <a:ext cx="10939780" cy="6017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45" y="2292350"/>
            <a:ext cx="6569710" cy="425005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15595" y="4030345"/>
            <a:ext cx="4333240" cy="203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olidFill>
                  <a:srgbClr val="0070C0"/>
                </a:solidFill>
              </a:rPr>
              <a:t>If you have different projects, you can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change the working directory for that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session, see above. Or you can type: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# Show the working directory (wd)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getwd()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# Change the wd </a:t>
            </a:r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70C0"/>
                </a:solidFill>
              </a:rPr>
              <a:t>setwd("C:/myfolder/data")</a:t>
            </a:r>
            <a:endParaRPr lang="en-US">
              <a:solidFill>
                <a:srgbClr val="0070C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149090" y="2123440"/>
            <a:ext cx="1252220" cy="452755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31470" y="161925"/>
            <a:ext cx="45078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400" b="1"/>
              <a:t>Setup a Default Working Directory</a:t>
            </a:r>
            <a:endParaRPr lang="en-US" sz="24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2105" y="622300"/>
            <a:ext cx="10603230" cy="60528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795" y="2266950"/>
            <a:ext cx="3948430" cy="387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670" y="2477135"/>
            <a:ext cx="3529330" cy="284353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3726815" y="2877820"/>
            <a:ext cx="512445" cy="1524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7800340" y="3420745"/>
            <a:ext cx="845185" cy="1524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7146290" y="3316605"/>
            <a:ext cx="528320" cy="224155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20370" y="43180"/>
            <a:ext cx="33483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/>
              <a:t>Change Appearance</a:t>
            </a:r>
            <a:endParaRPr lang="en-US" sz="2800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6905" y="565150"/>
            <a:ext cx="10375265" cy="60642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045" y="1517650"/>
            <a:ext cx="5094605" cy="470789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4083685" y="2820035"/>
            <a:ext cx="721360" cy="1016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65860" y="950595"/>
            <a:ext cx="62128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ym typeface="+mn-ea"/>
              </a:rPr>
              <a:t>- Basic R syntax and data types</a:t>
            </a:r>
            <a:endParaRPr lang="en-US" b="1"/>
          </a:p>
          <a:p>
            <a:r>
              <a:rPr lang="en-US" b="1">
                <a:sym typeface="+mn-ea"/>
              </a:rPr>
              <a:t>- Working with variables and basic arithmetic operations</a:t>
            </a:r>
            <a:endParaRPr lang="en-US"/>
          </a:p>
        </p:txBody>
      </p:sp>
      <p:pic>
        <p:nvPicPr>
          <p:cNvPr id="3" name="Content Placeholder 2" descr="Basic R data type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26845" y="1828165"/>
            <a:ext cx="8718550" cy="45707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65860" y="196215"/>
            <a:ext cx="32658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Let’s Begin Hand’s-on</a:t>
            </a:r>
            <a:endParaRPr lang="en-US"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650740" y="3075940"/>
            <a:ext cx="28905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4000"/>
              <a:t>WHAT NEXT?</a:t>
            </a:r>
            <a:endParaRPr lang="en-US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8396</Words>
  <Application>WPS Presentation</Application>
  <PresentationFormat>Widescreen</PresentationFormat>
  <Paragraphs>246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SimSun</vt:lpstr>
      <vt:lpstr>Wingdings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Introduction to R for Data Science &amp; Data Analytics</vt:lpstr>
      <vt:lpstr>Software For This Virtual Class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 for Data Science &amp; Data Analytics</dc:title>
  <dc:creator/>
  <cp:lastModifiedBy>Ayobami Salau</cp:lastModifiedBy>
  <cp:revision>11</cp:revision>
  <dcterms:created xsi:type="dcterms:W3CDTF">2023-05-26T11:43:00Z</dcterms:created>
  <dcterms:modified xsi:type="dcterms:W3CDTF">2024-07-24T06:15:33Z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15D42BBF54004951AC7362A55158DEDD</vt:lpwstr>
  </property>
  <property fmtid="{D5CDD505-2E9C-101B-9397-08002B2CF9AE}" pid="3" name="KSOProductBuildVer">
    <vt:lpwstr>1033-12.2.0.17153</vt:lpwstr>
  </property>
</Properties>
</file>