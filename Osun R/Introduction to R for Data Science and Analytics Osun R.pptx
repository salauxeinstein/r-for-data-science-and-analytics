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1" r:id="rId26"/>
    <p:sldId id="279" r:id="rId27"/>
    <p:sldId id="282" r:id="rId28"/>
    <p:sldId id="283" r:id="rId29"/>
    <p:sldId id="284" r:id="rId30"/>
    <p:sldId id="280" r:id="rId31"/>
    <p:sldId id="285" r:id="rId32"/>
    <p:sldId id="288" r:id="rId33"/>
    <p:sldId id="286" r:id="rId34"/>
    <p:sldId id="287" r:id="rId35"/>
    <p:sldId id="291" r:id="rId36"/>
    <p:sldId id="292" r:id="rId37"/>
    <p:sldId id="293" r:id="rId38"/>
    <p:sldId id="294" r:id="rId39"/>
    <p:sldId id="296" r:id="rId40"/>
    <p:sldId id="297" r:id="rId41"/>
    <p:sldId id="295" r:id="rId42"/>
    <p:sldId id="298" r:id="rId43"/>
    <p:sldId id="30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1778"/>
            <a:ext cx="9144000" cy="2387600"/>
          </a:xfrm>
        </p:spPr>
        <p:txBody>
          <a:bodyPr/>
          <a:lstStyle/>
          <a:p>
            <a:r>
              <a:rPr lang="en-US" b="1" dirty="0"/>
              <a:t>Introduction to R for Data Science &amp; Data Analytics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65475"/>
            <a:ext cx="9144000" cy="2286000"/>
          </a:xfrm>
        </p:spPr>
        <p:txBody>
          <a:bodyPr>
            <a:noAutofit/>
          </a:bodyPr>
          <a:lstStyle/>
          <a:p>
            <a:endParaRPr lang="en-US" b="1"/>
          </a:p>
          <a:p>
            <a:r>
              <a:rPr lang="en-US" b="1"/>
              <a:t>Salau Ayobami M.</a:t>
            </a:r>
            <a:endParaRPr lang="en-US" b="1"/>
          </a:p>
          <a:p>
            <a:r>
              <a:rPr lang="en-US" b="1"/>
              <a:t>Trainer</a:t>
            </a:r>
            <a:endParaRPr lang="en-US" b="1"/>
          </a:p>
        </p:txBody>
      </p:sp>
      <p:pic>
        <p:nvPicPr>
          <p:cNvPr id="4" name="Picture 3" descr="Osun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75" y="6220460"/>
            <a:ext cx="5909945" cy="63754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341120" y="2902585"/>
            <a:ext cx="93681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0" y="5714365"/>
            <a:ext cx="373761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Thursday June 1st - Saturday June 3rd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Software For This Virtual Class</a:t>
            </a:r>
            <a:endParaRPr lang="en-US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6495" y="1691005"/>
            <a:ext cx="2239010" cy="19926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38200" y="4076065"/>
            <a:ext cx="22218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The Question is:</a:t>
            </a:r>
            <a:endParaRPr 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4556760" y="5060315"/>
            <a:ext cx="32429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What is R?</a:t>
            </a:r>
            <a:endParaRPr lang="en-US" sz="2400" b="1"/>
          </a:p>
          <a:p>
            <a:r>
              <a:rPr lang="en-US" sz="2400" b="1"/>
              <a:t>Who has used R before?</a:t>
            </a:r>
            <a:endParaRPr lang="en-US" sz="2400" b="1"/>
          </a:p>
          <a:p>
            <a:r>
              <a:rPr lang="en-US" sz="2400" b="1"/>
              <a:t>What is it used for?</a:t>
            </a:r>
            <a:endParaRPr 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88950" y="377190"/>
            <a:ext cx="4777105" cy="3907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/>
              <a:t>What is R?</a:t>
            </a:r>
            <a:endParaRPr lang="en-US" sz="3200" b="1"/>
          </a:p>
          <a:p>
            <a:r>
              <a:rPr lang="en-US" sz="2400" b="1"/>
              <a:t>▪ R is an open-source programming </a:t>
            </a:r>
            <a:endParaRPr lang="en-US" sz="2400" b="1"/>
          </a:p>
          <a:p>
            <a:r>
              <a:rPr lang="en-US" sz="2400" b="1"/>
              <a:t>language released in 1995 by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Ross </a:t>
            </a:r>
            <a:endParaRPr lang="en-US" sz="2400" b="1"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Ihaka</a:t>
            </a:r>
            <a:r>
              <a:rPr lang="en-US" sz="2400" b="1"/>
              <a:t> and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Robert Gentleman</a:t>
            </a:r>
            <a:r>
              <a:rPr lang="en-US" sz="2400" b="1"/>
              <a:t> to </a:t>
            </a:r>
            <a:endParaRPr lang="en-US" sz="2400" b="1"/>
          </a:p>
          <a:p>
            <a:r>
              <a:rPr lang="en-US" sz="2400" b="1"/>
              <a:t>improve the visualization and </a:t>
            </a:r>
            <a:endParaRPr lang="en-US" sz="2400" b="1"/>
          </a:p>
          <a:p>
            <a:r>
              <a:rPr lang="en-US" sz="2400" b="1"/>
              <a:t>data analysis features of a prior </a:t>
            </a:r>
            <a:endParaRPr lang="en-US" sz="2400" b="1"/>
          </a:p>
          <a:p>
            <a:r>
              <a:rPr lang="en-US" sz="2400" b="1"/>
              <a:t>syntax such as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r>
              <a:rPr lang="en-US" sz="2400" b="1"/>
              <a:t>. 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▪ R is named partly after the first </a:t>
            </a:r>
            <a:endParaRPr lang="en-US" sz="2400" b="1"/>
          </a:p>
          <a:p>
            <a:r>
              <a:rPr lang="en-US" sz="2400" b="1"/>
              <a:t>names of the first two R authors</a:t>
            </a:r>
            <a:endParaRPr lang="en-US" sz="24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50305" y="558800"/>
            <a:ext cx="4862195" cy="35445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873375" y="4761865"/>
            <a:ext cx="6682740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 vs Python</a:t>
            </a:r>
            <a:endParaRPr lang="en-US" sz="2800" b="1"/>
          </a:p>
          <a:p>
            <a:r>
              <a:rPr lang="en-US" sz="2400" b="1"/>
              <a:t>▪ R is mainly used for data analysis, while Python is used for general_x0002_purpose programing</a:t>
            </a:r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2070" y="28575"/>
            <a:ext cx="12088495" cy="680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Objectives</a:t>
            </a:r>
            <a:endParaRPr lang="en-US" sz="2800" b="1"/>
          </a:p>
          <a:p>
            <a:r>
              <a:rPr lang="en-US" sz="2400" b="1"/>
              <a:t>▪ The objective of this virtual Class is to introduce you to R and RStudio, which you'll be using throughout the virtual class to learn the Introduction to Data Science and Data Analytics.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 We have Sectioned the virtual class into a Three days teaching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 With (1)One hour alloted to each Module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</a:t>
            </a:r>
            <a:r>
              <a:rPr lang="en-US" sz="2400" b="1"/>
              <a:t> The Virtual Class will be hands-on-experience, carrying along Newbies, beginers, and experts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 We plan on looking into R as a tool and simulate a learning experience that will make us be prepared for the next phase of our Data Science and Analytics career.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</a:t>
            </a:r>
            <a:r>
              <a:rPr lang="en-US" sz="2400" b="1"/>
              <a:t> We also plan to make sure that R should be convenient to use for your Research no matter your discipline or Research Interest.</a:t>
            </a:r>
            <a:endParaRPr lang="en-US" sz="2400" b="1"/>
          </a:p>
          <a:p>
            <a:r>
              <a:rPr lang="en-US" sz="2400" b="1"/>
              <a:t>NB: </a:t>
            </a:r>
            <a:endParaRPr lang="en-US" sz="2400" b="1"/>
          </a:p>
          <a:p>
            <a:r>
              <a:rPr lang="en-US" sz="2400" b="1"/>
              <a:t>▪ To straighten out which is which: R is the name of the programming language itself and RStudio is a convenient interface.</a:t>
            </a:r>
            <a:endParaRPr 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19710" y="0"/>
            <a:ext cx="10033000" cy="6862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Here's a breakdown of the course outline into a three-day learning schedule:</a:t>
            </a:r>
            <a:endParaRPr lang="en-US" sz="2000" b="1"/>
          </a:p>
          <a:p>
            <a:endParaRPr lang="en-US" sz="2000" b="1"/>
          </a:p>
          <a:p>
            <a:r>
              <a:rPr lang="en-US" sz="2000" b="1"/>
              <a:t>Day 1:</a:t>
            </a:r>
            <a:endParaRPr lang="en-US" sz="2000" b="1"/>
          </a:p>
          <a:p>
            <a:r>
              <a:rPr lang="en-US" sz="2000" b="1"/>
              <a:t>Time: 2pm-3pm</a:t>
            </a:r>
            <a:endParaRPr lang="en-US" sz="2000" b="1"/>
          </a:p>
          <a:p>
            <a:r>
              <a:rPr lang="en-US" sz="2000" b="1"/>
              <a:t>Module 1: </a:t>
            </a:r>
            <a:r>
              <a:rPr lang="en-US" sz="2000" b="1">
                <a:solidFill>
                  <a:schemeClr val="accent5"/>
                </a:solidFill>
              </a:rPr>
              <a:t>Introduction to R and RStudio</a:t>
            </a:r>
            <a:endParaRPr lang="en-US" sz="2000" b="1"/>
          </a:p>
          <a:p>
            <a:r>
              <a:rPr lang="en-US" sz="2000" b="1"/>
              <a:t>- Overview of R and its applications in data science and data analytics</a:t>
            </a:r>
            <a:endParaRPr lang="en-US" sz="2000" b="1"/>
          </a:p>
          <a:p>
            <a:r>
              <a:rPr lang="en-US" sz="2000" b="1"/>
              <a:t>- Installing R and RStudio</a:t>
            </a:r>
            <a:endParaRPr lang="en-US" sz="2000" b="1"/>
          </a:p>
          <a:p>
            <a:r>
              <a:rPr lang="en-US" sz="2000" b="1"/>
              <a:t>- Understanding the RStudio interface</a:t>
            </a:r>
            <a:endParaRPr lang="en-US" sz="2000" b="1"/>
          </a:p>
          <a:p>
            <a:r>
              <a:rPr lang="en-US" sz="2000" b="1"/>
              <a:t>- Basic R syntax and data types</a:t>
            </a:r>
            <a:endParaRPr lang="en-US" sz="2000" b="1"/>
          </a:p>
          <a:p>
            <a:r>
              <a:rPr lang="en-US" sz="2000" b="1"/>
              <a:t>- Working with variables and basic arithmetic operations</a:t>
            </a:r>
            <a:endParaRPr lang="en-US" sz="2000" b="1"/>
          </a:p>
          <a:p>
            <a:endParaRPr lang="en-US" sz="2000" b="1"/>
          </a:p>
          <a:p>
            <a:r>
              <a:rPr lang="en-US" sz="2000" b="1"/>
              <a:t>Time: 3pm-4pm</a:t>
            </a:r>
            <a:endParaRPr lang="en-US" sz="2000" b="1"/>
          </a:p>
          <a:p>
            <a:r>
              <a:rPr lang="en-US" sz="2000" b="1"/>
              <a:t>Module 2:</a:t>
            </a:r>
            <a:r>
              <a:rPr lang="en-US" sz="2000" b="1">
                <a:solidFill>
                  <a:schemeClr val="accent5"/>
                </a:solidFill>
              </a:rPr>
              <a:t> Data Manipulation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/>
              <a:t>- Importing data into R from different file formats (e.g., CSV, Excel)</a:t>
            </a:r>
            <a:endParaRPr lang="en-US" sz="2000" b="1"/>
          </a:p>
          <a:p>
            <a:r>
              <a:rPr lang="en-US" sz="2000" b="1"/>
              <a:t>- Exploring and understanding data structures in R (vectors, matrices, data frames)</a:t>
            </a:r>
            <a:endParaRPr lang="en-US" sz="2000" b="1"/>
          </a:p>
          <a:p>
            <a:r>
              <a:rPr lang="en-US" sz="2000" b="1"/>
              <a:t>- Data cleaning and preprocessing techniques (handling missing values, data transformations)</a:t>
            </a:r>
            <a:endParaRPr lang="en-US" sz="2000" b="1"/>
          </a:p>
          <a:p>
            <a:endParaRPr lang="en-US" sz="2000" b="1"/>
          </a:p>
          <a:p>
            <a:r>
              <a:rPr lang="en-US" sz="2000" b="1"/>
              <a:t>Time: 4pm-5pm</a:t>
            </a:r>
            <a:endParaRPr lang="en-US" sz="2000" b="1"/>
          </a:p>
          <a:p>
            <a:r>
              <a:rPr lang="en-US" sz="2000" b="1"/>
              <a:t>Module 3: </a:t>
            </a:r>
            <a:r>
              <a:rPr lang="en-US" sz="2000" b="1">
                <a:solidFill>
                  <a:schemeClr val="accent5"/>
                </a:solidFill>
              </a:rPr>
              <a:t>Exploratory Data Analysis (EDA)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/>
              <a:t>- Introduction to descriptive statistics and visualization</a:t>
            </a:r>
            <a:endParaRPr lang="en-US" sz="2000" b="1"/>
          </a:p>
          <a:p>
            <a:r>
              <a:rPr lang="en-US" sz="2000" b="1"/>
              <a:t>- Generating summary statistics (mean, median, standard deviation, etc.)</a:t>
            </a:r>
            <a:endParaRPr lang="en-US" sz="2000" b="1"/>
          </a:p>
          <a:p>
            <a:r>
              <a:rPr lang="en-US" sz="2000" b="1"/>
              <a:t>- Creating basic data visualizations using ggplot2 package</a:t>
            </a:r>
            <a:endParaRPr 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3505" y="218440"/>
            <a:ext cx="10852150" cy="6554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ym typeface="+mn-ea"/>
              </a:rPr>
              <a:t>Day 2:</a:t>
            </a:r>
            <a:endParaRPr lang="en-US" sz="2400" b="1">
              <a:sym typeface="+mn-ea"/>
            </a:endParaRPr>
          </a:p>
          <a:p>
            <a:endParaRPr lang="en-US" sz="2000" b="1"/>
          </a:p>
          <a:p>
            <a:r>
              <a:rPr lang="en-US" sz="2000" b="1">
                <a:sym typeface="+mn-ea"/>
              </a:rPr>
              <a:t>Time: 2pm-3pm</a:t>
            </a:r>
            <a:endParaRPr lang="en-US" sz="2000" b="1"/>
          </a:p>
          <a:p>
            <a:r>
              <a:rPr lang="en-US" sz="2000" b="1">
                <a:sym typeface="+mn-ea"/>
              </a:rPr>
              <a:t>Module 4: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Statistical Analysis with R</a:t>
            </a:r>
            <a:endParaRPr lang="en-US" sz="2000" b="1"/>
          </a:p>
          <a:p>
            <a:r>
              <a:rPr lang="en-US" sz="2000" b="1">
                <a:sym typeface="+mn-ea"/>
              </a:rPr>
              <a:t>- Introduction to statistical concepts in R (hypothesis testing, confidence intervals)</a:t>
            </a:r>
            <a:endParaRPr lang="en-US" sz="2000" b="1"/>
          </a:p>
          <a:p>
            <a:r>
              <a:rPr lang="en-US" sz="2000" b="1">
                <a:sym typeface="+mn-ea"/>
              </a:rPr>
              <a:t>- Conducting t-tests and chi-square tests for categorical data</a:t>
            </a:r>
            <a:endParaRPr lang="en-US" sz="2000" b="1"/>
          </a:p>
          <a:p>
            <a:r>
              <a:rPr lang="en-US" sz="2000" b="1">
                <a:sym typeface="+mn-ea"/>
              </a:rPr>
              <a:t>- Performing linear regression analysis to model relationships between variables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ym typeface="+mn-ea"/>
              </a:rPr>
              <a:t>Time: 3pm-4pm</a:t>
            </a:r>
            <a:endParaRPr lang="en-US" sz="2000" b="1"/>
          </a:p>
          <a:p>
            <a:r>
              <a:rPr lang="en-US" sz="2000" b="1">
                <a:sym typeface="+mn-ea"/>
              </a:rPr>
              <a:t>Module 5: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 Data Visualization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Advanced data visualization using ggplot2 package</a:t>
            </a:r>
            <a:endParaRPr lang="en-US" sz="2000" b="1"/>
          </a:p>
          <a:p>
            <a:r>
              <a:rPr lang="en-US" sz="2000" b="1">
                <a:sym typeface="+mn-ea"/>
              </a:rPr>
              <a:t>- Customizing plots (colors, labels, themes)</a:t>
            </a:r>
            <a:endParaRPr lang="en-US" sz="2000" b="1"/>
          </a:p>
          <a:p>
            <a:r>
              <a:rPr lang="en-US" sz="2000" b="1">
                <a:sym typeface="+mn-ea"/>
              </a:rPr>
              <a:t>- Creating complex visualizations such as bar plots, histograms, box plots, and heatmaps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ym typeface="+mn-ea"/>
              </a:rPr>
              <a:t>Time: 4pm-5pm</a:t>
            </a:r>
            <a:endParaRPr lang="en-US" sz="2000" b="1"/>
          </a:p>
          <a:p>
            <a:r>
              <a:rPr lang="en-US" sz="2000" b="1">
                <a:sym typeface="+mn-ea"/>
              </a:rPr>
              <a:t>Module 6: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 Introduction to Machine Learning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Overview of machine learning concepts and algorithms</a:t>
            </a:r>
            <a:endParaRPr lang="en-US" sz="2000" b="1"/>
          </a:p>
          <a:p>
            <a:r>
              <a:rPr lang="en-US" sz="2000" b="1">
                <a:sym typeface="+mn-ea"/>
              </a:rPr>
              <a:t>- Supervised learning: classification and regression</a:t>
            </a:r>
            <a:endParaRPr lang="en-US" sz="2000" b="1"/>
          </a:p>
          <a:p>
            <a:r>
              <a:rPr lang="en-US" sz="2000" b="1">
                <a:sym typeface="+mn-ea"/>
              </a:rPr>
              <a:t>- Unsupervised learning: clustering and dimensionality reduction</a:t>
            </a:r>
            <a:endParaRPr lang="en-US" sz="2000" b="1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23190"/>
            <a:ext cx="7096760" cy="6308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ym typeface="+mn-ea"/>
              </a:rPr>
              <a:t>Day 3:</a:t>
            </a:r>
            <a:endParaRPr lang="en-US" sz="2400" b="1"/>
          </a:p>
          <a:p>
            <a:r>
              <a:rPr lang="en-US" sz="2000" b="1">
                <a:sym typeface="+mn-ea"/>
              </a:rPr>
              <a:t>Time: 2pm-3pm</a:t>
            </a:r>
            <a:endParaRPr lang="en-US" sz="2000" b="1"/>
          </a:p>
          <a:p>
            <a:r>
              <a:rPr lang="en-US" sz="2000" b="1">
                <a:sym typeface="+mn-ea"/>
              </a:rPr>
              <a:t>Module 7: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Data Wrangling and Transformation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Advanced data manipulation techniques using dplyr and tidyr packages</a:t>
            </a:r>
            <a:endParaRPr lang="en-US" sz="2000" b="1"/>
          </a:p>
          <a:p>
            <a:r>
              <a:rPr lang="en-US" sz="2000" b="1">
                <a:sym typeface="+mn-ea"/>
              </a:rPr>
              <a:t>- Aggregating and summarizing data</a:t>
            </a:r>
            <a:endParaRPr lang="en-US" sz="2000" b="1"/>
          </a:p>
          <a:p>
            <a:r>
              <a:rPr lang="en-US" sz="2000" b="1">
                <a:sym typeface="+mn-ea"/>
              </a:rPr>
              <a:t>- Reshaping data from wide to long format and vice versa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ym typeface="+mn-ea"/>
              </a:rPr>
              <a:t>Time: 3pm-4pm</a:t>
            </a:r>
            <a:endParaRPr lang="en-US" sz="2000" b="1"/>
          </a:p>
          <a:p>
            <a:r>
              <a:rPr lang="en-US" sz="2000" b="1">
                <a:sym typeface="+mn-ea"/>
              </a:rPr>
              <a:t>Module 8: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Introduction to Big Data Analytics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Overview of big data concepts and challenges</a:t>
            </a:r>
            <a:endParaRPr lang="en-US" sz="2000" b="1"/>
          </a:p>
          <a:p>
            <a:r>
              <a:rPr lang="en-US" sz="2000" b="1">
                <a:sym typeface="+mn-ea"/>
              </a:rPr>
              <a:t>- Introduction to parallel computing and distributed systems</a:t>
            </a:r>
            <a:endParaRPr lang="en-US" sz="2000" b="1"/>
          </a:p>
          <a:p>
            <a:r>
              <a:rPr lang="en-US" sz="2000" b="1">
                <a:sym typeface="+mn-ea"/>
              </a:rPr>
              <a:t>- Working with big data using R packages (e.g., dplyr, data.table)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ym typeface="+mn-ea"/>
              </a:rPr>
              <a:t>Time: 4pm-5pm</a:t>
            </a:r>
            <a:endParaRPr lang="en-US" sz="2000" b="1"/>
          </a:p>
          <a:p>
            <a:r>
              <a:rPr lang="en-US" sz="2000" b="1">
                <a:sym typeface="+mn-ea"/>
              </a:rPr>
              <a:t>Module 9: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Data Science Project Workflow</a:t>
            </a:r>
            <a:endParaRPr lang="en-US" sz="2000" b="1"/>
          </a:p>
          <a:p>
            <a:r>
              <a:rPr lang="en-US" sz="2000" b="1">
                <a:sym typeface="+mn-ea"/>
              </a:rPr>
              <a:t>- Understanding the end-to-end data science project lifecycle</a:t>
            </a:r>
            <a:endParaRPr lang="en-US" sz="2000" b="1"/>
          </a:p>
          <a:p>
            <a:r>
              <a:rPr lang="en-US" sz="2000" b="1">
                <a:sym typeface="+mn-ea"/>
              </a:rPr>
              <a:t>- Formulating a data problem and defining project objectives</a:t>
            </a:r>
            <a:endParaRPr lang="en-US" sz="2000" b="1"/>
          </a:p>
          <a:p>
            <a:r>
              <a:rPr lang="en-US" sz="2000" b="1">
                <a:sym typeface="+mn-ea"/>
              </a:rPr>
              <a:t>- Data acquisition and preparation</a:t>
            </a:r>
            <a:endParaRPr lang="en-US" sz="2000" b="1"/>
          </a:p>
          <a:p>
            <a:r>
              <a:rPr lang="en-US" sz="2000" b="1">
                <a:sym typeface="+mn-ea"/>
              </a:rPr>
              <a:t>- Exploratory data analysis and feature engineering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97395" y="377190"/>
            <a:ext cx="49009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Extras(To be given as a project or assignment)</a:t>
            </a:r>
            <a:endParaRPr lang="en-US" sz="2000" b="1"/>
          </a:p>
          <a:p>
            <a:r>
              <a:rPr lang="en-US" sz="2000" b="1">
                <a:sym typeface="+mn-ea"/>
              </a:rPr>
              <a:t>Module 10: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Case Studies and Practical Applications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Applying R in real-world data science and data analytics scenarios</a:t>
            </a:r>
            <a:endParaRPr lang="en-US" sz="2000" b="1"/>
          </a:p>
          <a:p>
            <a:r>
              <a:rPr lang="en-US" sz="2000" b="1">
                <a:sym typeface="+mn-ea"/>
              </a:rPr>
              <a:t>- Case studies across various domains (e.g., finance, healthcare, marketing)</a:t>
            </a:r>
            <a:endParaRPr lang="en-US" sz="2000" b="1"/>
          </a:p>
          <a:p>
            <a:r>
              <a:rPr lang="en-US" sz="2000" b="1">
                <a:sym typeface="+mn-ea"/>
              </a:rPr>
              <a:t>- Solving practical problems using R and relevant packages</a:t>
            </a:r>
            <a:endParaRPr lang="en-US" sz="2000" b="1"/>
          </a:p>
          <a:p>
            <a:r>
              <a:rPr lang="en-US" sz="2000" b="1">
                <a:sym typeface="+mn-ea"/>
              </a:rPr>
              <a:t>- Presenting and interpreting results effectively</a:t>
            </a:r>
            <a:endParaRPr lang="en-US" sz="2000" b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03605" y="1104900"/>
            <a:ext cx="809180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ym typeface="+mn-ea"/>
              </a:rPr>
              <a:t>Day 1:</a:t>
            </a:r>
            <a:endParaRPr lang="en-US" sz="2400" b="1"/>
          </a:p>
          <a:p>
            <a:r>
              <a:rPr lang="en-US" sz="2400" b="1">
                <a:sym typeface="+mn-ea"/>
              </a:rPr>
              <a:t>Time: 2pm-3pm</a:t>
            </a:r>
            <a:endParaRPr lang="en-US" sz="2400" b="1"/>
          </a:p>
          <a:p>
            <a:r>
              <a:rPr lang="en-US" sz="2400" b="1">
                <a:sym typeface="+mn-ea"/>
              </a:rPr>
              <a:t>Module 1: </a:t>
            </a:r>
            <a:r>
              <a:rPr lang="en-US" sz="2400" b="1">
                <a:solidFill>
                  <a:schemeClr val="accent5"/>
                </a:solidFill>
                <a:sym typeface="+mn-ea"/>
              </a:rPr>
              <a:t>Introduction to R and RStudio</a:t>
            </a:r>
            <a:endParaRPr lang="en-US" sz="2400" b="1"/>
          </a:p>
          <a:p>
            <a:r>
              <a:rPr lang="en-US" sz="2400" b="1">
                <a:sym typeface="+mn-ea"/>
              </a:rPr>
              <a:t>- Overview of R and its applications in data science and data analytics</a:t>
            </a:r>
            <a:endParaRPr lang="en-US" sz="2400" b="1"/>
          </a:p>
          <a:p>
            <a:r>
              <a:rPr lang="en-US" sz="2400" b="1">
                <a:sym typeface="+mn-ea"/>
              </a:rPr>
              <a:t>- Installing R and RStudio</a:t>
            </a:r>
            <a:endParaRPr lang="en-US" sz="2400" b="1"/>
          </a:p>
          <a:p>
            <a:r>
              <a:rPr lang="en-US" sz="2400" b="1">
                <a:sym typeface="+mn-ea"/>
              </a:rPr>
              <a:t>- Understanding the RStudio interface</a:t>
            </a:r>
            <a:endParaRPr lang="en-US" sz="2400" b="1"/>
          </a:p>
          <a:p>
            <a:r>
              <a:rPr lang="en-US" sz="2400" b="1">
                <a:sym typeface="+mn-ea"/>
              </a:rPr>
              <a:t>- Basic R syntax and data types</a:t>
            </a:r>
            <a:endParaRPr lang="en-US" sz="2400" b="1"/>
          </a:p>
          <a:p>
            <a:r>
              <a:rPr lang="en-US" sz="2400" b="1">
                <a:sym typeface="+mn-ea"/>
              </a:rPr>
              <a:t>- Working with variables and basic arithmetic operations</a:t>
            </a:r>
            <a:endParaRPr lang="en-US" sz="24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03605" y="417830"/>
            <a:ext cx="15360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Let’s Begin</a:t>
            </a:r>
            <a:endParaRPr lang="en-US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87630"/>
            <a:ext cx="762127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 sz="2000" b="1">
                <a:sym typeface="+mn-ea"/>
              </a:rPr>
              <a:t>Overview of R and its applications in data science and data analytics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1140" y="486410"/>
            <a:ext cx="1147064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Applications of R in Data Science</a:t>
            </a:r>
            <a:endParaRPr lang="en-US" b="1"/>
          </a:p>
          <a:p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Exploratory Data Analysis:</a:t>
            </a:r>
            <a:r>
              <a:rPr lang="en-US" b="1"/>
              <a:t> R is widely used for exploratory data analysis to gain insights and understand patterns in data.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Statistical Modeling: </a:t>
            </a:r>
            <a:r>
              <a:rPr lang="en-US" b="1"/>
              <a:t>R provides a robust framework for statistical modeling, allowing data scientists to build regression models, time series analysis, and other statistical techniques.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Machine Learning:</a:t>
            </a:r>
            <a:r>
              <a:rPr lang="en-US" b="1"/>
              <a:t> R offers a wide range of machine learning algorithms and frameworks, making it suitable for tasks like classification, regression, and recommendation systems.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Natural Language Processing:</a:t>
            </a:r>
            <a:r>
              <a:rPr lang="en-US" b="1"/>
              <a:t> R has packages for natural language processing tasks such as text mining, sentiment analysis, and language modeling.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Data Visualization:</a:t>
            </a:r>
            <a:r>
              <a:rPr lang="en-US" b="1"/>
              <a:t> R's visualization libraries, such as ggplot2, enable data scientists to create interactive and visually appealing plots and charts.</a:t>
            </a:r>
            <a:endParaRPr lang="en-US" b="1"/>
          </a:p>
          <a:p>
            <a:endParaRPr lang="en-US" b="1"/>
          </a:p>
          <a:p>
            <a:r>
              <a:rPr lang="en-US" b="1"/>
              <a:t>Applications of R in Data Analytics</a:t>
            </a:r>
            <a:endParaRPr lang="en-US" b="1"/>
          </a:p>
          <a:p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Business Analytics:</a:t>
            </a:r>
            <a:r>
              <a:rPr lang="en-US" b="1"/>
              <a:t> R is used in business analytics for tasks like forecasting sales, customer segmentation, and market basket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Financial Analysis:</a:t>
            </a:r>
            <a:r>
              <a:rPr lang="en-US" b="1"/>
              <a:t> R is employed in financial analysis for portfolio optimization, risk modeling, and financial forecasting.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Healthcare Analytics: </a:t>
            </a:r>
            <a:r>
              <a:rPr lang="en-US" b="1"/>
              <a:t>R is utilized in healthcare analytics for tasks like disease prediction, patient monitoring, and medical image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Social Media Analytics:</a:t>
            </a:r>
            <a:r>
              <a:rPr lang="en-US" b="1"/>
              <a:t> R can be applied to analyze social media data, sentiment analysis, and social network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Marketing Analytics:</a:t>
            </a:r>
            <a:r>
              <a:rPr lang="en-US" b="1"/>
              <a:t> R is used for customer segmentation, churn prediction, and marketing campaign analysis.</a:t>
            </a:r>
            <a:endParaRPr 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69620" y="257175"/>
            <a:ext cx="272478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>
                <a:sym typeface="+mn-ea"/>
              </a:rPr>
              <a:t> </a:t>
            </a:r>
            <a:r>
              <a:rPr lang="en-US" sz="2000" b="1">
                <a:sym typeface="+mn-ea"/>
              </a:rPr>
              <a:t>Installing R and RStudio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26000" y="785495"/>
            <a:ext cx="254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Installation of R</a:t>
            </a:r>
            <a:endParaRPr lang="en-US" sz="2000" b="1"/>
          </a:p>
        </p:txBody>
      </p:sp>
      <p:sp>
        <p:nvSpPr>
          <p:cNvPr id="6" name="Text Box 5"/>
          <p:cNvSpPr txBox="1"/>
          <p:nvPr/>
        </p:nvSpPr>
        <p:spPr>
          <a:xfrm>
            <a:off x="166370" y="1649730"/>
            <a:ext cx="615442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Installing R</a:t>
            </a:r>
            <a:endParaRPr lang="en-US" sz="2000" b="1"/>
          </a:p>
          <a:p>
            <a:r>
              <a:rPr lang="en-US" sz="2000" b="1"/>
              <a:t>▪ R is available for free on the Comprehensive R Archive Network </a:t>
            </a:r>
            <a:endParaRPr lang="en-US" sz="2000" b="1"/>
          </a:p>
          <a:p>
            <a:r>
              <a:rPr lang="en-US" sz="2000" b="1"/>
              <a:t>(CRAN) website</a:t>
            </a:r>
            <a:endParaRPr lang="en-US" sz="2000" b="1"/>
          </a:p>
          <a:p>
            <a:r>
              <a:rPr lang="en-US" sz="2000" b="1"/>
              <a:t>▪ Step 1: Open the R Project Homepage: </a:t>
            </a:r>
            <a:r>
              <a:rPr lang="en-US" sz="2000" b="1" u="sng">
                <a:solidFill>
                  <a:schemeClr val="accent5"/>
                </a:solidFill>
              </a:rPr>
              <a:t>www.r-project.org</a:t>
            </a:r>
            <a:endParaRPr lang="en-US" sz="2000" b="1"/>
          </a:p>
          <a:p>
            <a:r>
              <a:rPr lang="en-US" sz="2000" b="1"/>
              <a:t>▪ Step 2: Click on the “CRAN” link on the menu on the left-hand side of the page. Pick </a:t>
            </a:r>
            <a:endParaRPr lang="en-US" sz="2000" b="1"/>
          </a:p>
          <a:p>
            <a:r>
              <a:rPr lang="en-US" sz="2000" b="1"/>
              <a:t>the server that is (geographically) closest to you.</a:t>
            </a:r>
            <a:endParaRPr lang="en-US" sz="2000" b="1"/>
          </a:p>
          <a:p>
            <a:r>
              <a:rPr lang="en-US" sz="2000" b="1"/>
              <a:t>▪ Step 3: Find your operating system (Windows, Macintosh, Linux, etc.) under </a:t>
            </a:r>
            <a:endParaRPr lang="en-US" sz="2000" b="1"/>
          </a:p>
          <a:p>
            <a:r>
              <a:rPr lang="en-US" sz="2000" b="1"/>
              <a:t>“Precompiled Binary Distributions”. These are the ready-to-install files containing the </a:t>
            </a:r>
            <a:endParaRPr lang="en-US" sz="2000" b="1"/>
          </a:p>
          <a:p>
            <a:r>
              <a:rPr lang="en-US" sz="2000" b="1"/>
              <a:t>base R package, and are the easiest way to get R up and running on your machine.</a:t>
            </a:r>
            <a:endParaRPr lang="en-US" sz="2000" b="1"/>
          </a:p>
        </p:txBody>
      </p:sp>
      <p:sp>
        <p:nvSpPr>
          <p:cNvPr id="7" name="Text Box 6"/>
          <p:cNvSpPr txBox="1"/>
          <p:nvPr/>
        </p:nvSpPr>
        <p:spPr>
          <a:xfrm>
            <a:off x="6546215" y="1649730"/>
            <a:ext cx="537654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▪ Windows:</a:t>
            </a:r>
            <a:endParaRPr lang="en-US" sz="2000" b="1"/>
          </a:p>
          <a:p>
            <a:r>
              <a:rPr lang="en-US" sz="2000" b="1"/>
              <a:t>▪ Click </a:t>
            </a:r>
            <a:r>
              <a:rPr lang="en-US" sz="2000" b="1" u="sng">
                <a:solidFill>
                  <a:schemeClr val="accent5"/>
                </a:solidFill>
              </a:rPr>
              <a:t>Download R for Windows.</a:t>
            </a:r>
            <a:r>
              <a:rPr lang="en-US" sz="2000" b="1"/>
              <a:t> </a:t>
            </a:r>
            <a:endParaRPr lang="en-US" sz="2000" b="1"/>
          </a:p>
          <a:p>
            <a:r>
              <a:rPr lang="en-US" sz="2000" b="1"/>
              <a:t>▪ Click </a:t>
            </a:r>
            <a:r>
              <a:rPr lang="en-US" sz="2000" b="1" u="sng">
                <a:solidFill>
                  <a:schemeClr val="accent5"/>
                </a:solidFill>
              </a:rPr>
              <a:t>base.</a:t>
            </a:r>
            <a:endParaRPr lang="en-US" sz="2000" b="1"/>
          </a:p>
          <a:p>
            <a:r>
              <a:rPr lang="en-US" sz="2000" b="1"/>
              <a:t>▪ Click</a:t>
            </a:r>
            <a:r>
              <a:rPr lang="en-US" sz="2000" b="1" u="sng">
                <a:solidFill>
                  <a:schemeClr val="accent5"/>
                </a:solidFill>
              </a:rPr>
              <a:t> Download R-4.2.2 for Windows.</a:t>
            </a:r>
            <a:r>
              <a:rPr lang="en-US" sz="2000" b="1"/>
              <a:t> Save it to a file on your hard drive. (Note: the </a:t>
            </a:r>
            <a:endParaRPr lang="en-US" sz="2000" b="1"/>
          </a:p>
          <a:p>
            <a:r>
              <a:rPr lang="en-US" sz="2000" b="1"/>
              <a:t>installation file is about 76 Megabytes. If you have a slow Internet connection, download </a:t>
            </a:r>
            <a:endParaRPr lang="en-US" sz="2000" b="1"/>
          </a:p>
          <a:p>
            <a:r>
              <a:rPr lang="en-US" sz="2000" b="1"/>
              <a:t>the installation file on a machine with a fast connection.</a:t>
            </a:r>
            <a:endParaRPr lang="en-US" sz="2000" b="1"/>
          </a:p>
          <a:p>
            <a:r>
              <a:rPr lang="en-US" sz="2000" b="1"/>
              <a:t>▪ Find the installation file “R-4.2.2-win.exe” on your hard drive.</a:t>
            </a:r>
            <a:endParaRPr lang="en-US" sz="2000" b="1"/>
          </a:p>
          <a:p>
            <a:r>
              <a:rPr lang="en-US" sz="2000" b="1"/>
              <a:t>▪ Close all other programs before beginning the installation. </a:t>
            </a:r>
            <a:endParaRPr lang="en-US" sz="2000" b="1"/>
          </a:p>
          <a:p>
            <a:r>
              <a:rPr lang="en-US" sz="2000" b="1"/>
              <a:t>▪ Run the installation program with administrative privileges.</a:t>
            </a:r>
            <a:endParaRPr lang="en-US" sz="2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89635" y="880110"/>
            <a:ext cx="10413365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/>
              <a:t>Installing R</a:t>
            </a:r>
            <a:endParaRPr lang="en-US" sz="2400" b="1"/>
          </a:p>
          <a:p>
            <a:endParaRPr lang="en-US" sz="2000" b="1"/>
          </a:p>
          <a:p>
            <a:r>
              <a:rPr lang="en-US" sz="2400" b="1"/>
              <a:t>▪ Mac OS X :</a:t>
            </a:r>
            <a:endParaRPr lang="en-US" sz="2400" b="1"/>
          </a:p>
          <a:p>
            <a:r>
              <a:rPr lang="en-US" sz="2400" b="1"/>
              <a:t>▪ Click </a:t>
            </a:r>
            <a:r>
              <a:rPr lang="en-US" sz="2400" b="1" u="sng">
                <a:solidFill>
                  <a:schemeClr val="accent5"/>
                </a:solidFill>
              </a:rPr>
              <a:t>Download R for macOS. </a:t>
            </a:r>
            <a:endParaRPr lang="en-US" sz="2400" b="1"/>
          </a:p>
          <a:p>
            <a:r>
              <a:rPr lang="en-US" sz="2400" b="1"/>
              <a:t>▪ Click either </a:t>
            </a:r>
            <a:r>
              <a:rPr lang="en-US" sz="2400" b="1" u="sng">
                <a:solidFill>
                  <a:schemeClr val="accent5"/>
                </a:solidFill>
              </a:rPr>
              <a:t>R-4.2.2-arm64.pkg</a:t>
            </a:r>
            <a:r>
              <a:rPr lang="en-US" sz="2400" b="1"/>
              <a:t> or </a:t>
            </a:r>
            <a:r>
              <a:rPr lang="en-US" sz="2400" b="1" u="sng">
                <a:solidFill>
                  <a:schemeClr val="accent5"/>
                </a:solidFill>
              </a:rPr>
              <a:t>R-4.2.2.pkg</a:t>
            </a:r>
            <a:r>
              <a:rPr lang="en-US" sz="2400" b="1"/>
              <a:t> to download R based on your            computer settings.</a:t>
            </a:r>
            <a:endParaRPr lang="en-US" sz="2400" b="1"/>
          </a:p>
          <a:p>
            <a:r>
              <a:rPr lang="en-US" sz="2400" b="1"/>
              <a:t>▪ To install R, simply double-click on the icon of the downloaded package file.</a:t>
            </a:r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sz="2400" b="1"/>
              <a:t>▪ Linux</a:t>
            </a:r>
            <a:endParaRPr lang="en-US" sz="2400" b="1"/>
          </a:p>
          <a:p>
            <a:r>
              <a:rPr lang="en-US" sz="2400" b="1"/>
              <a:t>▪ Follow the instruction to install appropriate package</a:t>
            </a:r>
            <a:endParaRPr lang="en-US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5560" y="1388745"/>
            <a:ext cx="9444990" cy="4924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2310" y="1102360"/>
            <a:ext cx="10304145" cy="507492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972820" y="4646295"/>
            <a:ext cx="6983095" cy="17399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9905" y="777240"/>
            <a:ext cx="11285220" cy="588391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3843020" y="2150110"/>
            <a:ext cx="1775460" cy="15811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030" y="775970"/>
            <a:ext cx="10950575" cy="579056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2471420" y="1428750"/>
            <a:ext cx="579120" cy="15811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9770" y="776605"/>
            <a:ext cx="10662285" cy="599249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2963545" y="1227455"/>
            <a:ext cx="2841625" cy="29972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80670" y="184785"/>
            <a:ext cx="45167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/>
              <a:t>Installation of RStudio</a:t>
            </a:r>
            <a:endParaRPr lang="en-US" sz="3200" b="1"/>
          </a:p>
        </p:txBody>
      </p:sp>
      <p:sp>
        <p:nvSpPr>
          <p:cNvPr id="5" name="Text Box 4"/>
          <p:cNvSpPr txBox="1"/>
          <p:nvPr/>
        </p:nvSpPr>
        <p:spPr>
          <a:xfrm>
            <a:off x="2632710" y="1303020"/>
            <a:ext cx="7445375" cy="2738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RStudio</a:t>
            </a:r>
            <a:endParaRPr lang="en-US" sz="2800" b="1"/>
          </a:p>
          <a:p>
            <a:r>
              <a:rPr lang="en-US" sz="2400" b="1"/>
              <a:t>▪ RStudio Integrated development environment (IDE) is a powerful and productive user interface for R. It’s free and open source, and works great on Windows, Mac, and Linux.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▪ Download: </a:t>
            </a:r>
            <a:r>
              <a:rPr lang="en-US" sz="2400" b="1" u="sng">
                <a:solidFill>
                  <a:schemeClr val="accent5"/>
                </a:solidFill>
              </a:rPr>
              <a:t>www.rstudio.com</a:t>
            </a:r>
            <a:endParaRPr lang="en-US" sz="2400" b="1" u="sng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7025" y="702945"/>
            <a:ext cx="11176000" cy="54584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8450" y="181610"/>
            <a:ext cx="254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RStudio</a:t>
            </a:r>
            <a:endParaRPr lang="en-US" sz="2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245" y="763905"/>
            <a:ext cx="11269980" cy="563308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8319770" y="763905"/>
            <a:ext cx="1501140" cy="49530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1360" y="763270"/>
            <a:ext cx="10812780" cy="57454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sp>
        <p:nvSpPr>
          <p:cNvPr id="9" name="Rectangles 8"/>
          <p:cNvSpPr/>
          <p:nvPr/>
        </p:nvSpPr>
        <p:spPr>
          <a:xfrm>
            <a:off x="2375535" y="5502275"/>
            <a:ext cx="1501140" cy="49530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2630" y="764540"/>
            <a:ext cx="10826115" cy="59702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sp>
        <p:nvSpPr>
          <p:cNvPr id="9" name="Rectangles 8"/>
          <p:cNvSpPr/>
          <p:nvPr/>
        </p:nvSpPr>
        <p:spPr>
          <a:xfrm>
            <a:off x="2346960" y="3917950"/>
            <a:ext cx="2750820" cy="69088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763270"/>
            <a:ext cx="11775440" cy="60947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3675" y="560070"/>
            <a:ext cx="400367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/>
              <a:t>R Interface</a:t>
            </a:r>
            <a:endParaRPr lang="en-US" sz="3600" b="1"/>
          </a:p>
          <a:p>
            <a:endParaRPr lang="en-US" sz="3200" b="1"/>
          </a:p>
          <a:p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  Open R interface: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Open Start Menu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Go to the folder R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Click R.4.2.2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81500" y="560070"/>
            <a:ext cx="7546975" cy="61455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9380" y="422910"/>
            <a:ext cx="406209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/>
              <a:t>RStudio Interface</a:t>
            </a:r>
            <a:endParaRPr lang="en-US" sz="3600" b="1"/>
          </a:p>
          <a:p>
            <a:endParaRPr lang="en-US" sz="3600" b="1"/>
          </a:p>
          <a:p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 Open RStudio interface: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Open Start Menu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Go to the folder RStudio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Click RStudio</a:t>
            </a:r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i="1"/>
              <a:t>Note: RStudio appearance can be changed</a:t>
            </a:r>
            <a:endParaRPr lang="en-US" i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14520" y="422910"/>
            <a:ext cx="7510780" cy="61309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13690" y="197485"/>
            <a:ext cx="30911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3200" b="1">
                <a:sym typeface="+mn-ea"/>
              </a:rPr>
              <a:t>RStudio Interface</a:t>
            </a:r>
            <a:endParaRPr lang="en-US" sz="3200" b="1">
              <a:sym typeface="+mn-ea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9765" y="781050"/>
            <a:ext cx="11127105" cy="58635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07845" y="2244090"/>
            <a:ext cx="37318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source panel is where you write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your script.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028180" y="2244090"/>
            <a:ext cx="4335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workspace tab shows all the active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objects. The history tab shows a list of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commands used so far.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807845" y="5605780"/>
            <a:ext cx="40176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console panel is where you can type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commands and see output.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31330" y="4220845"/>
            <a:ext cx="43503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files tab shows all the files and folders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in your default workspace as if you were on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a PC/Mac window. The plots tab will show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all your graphs. The packages tab will list a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series of packages or add-ons needed to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run certain processes. For additional info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see the help tab.</a:t>
            </a:r>
            <a:endParaRPr 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3520" y="178435"/>
            <a:ext cx="47123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Change Working Directory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155" y="701040"/>
            <a:ext cx="10939780" cy="6017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45" y="2292350"/>
            <a:ext cx="6569710" cy="42500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15595" y="4030345"/>
            <a:ext cx="4333240" cy="203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olidFill>
                  <a:srgbClr val="0070C0"/>
                </a:solidFill>
              </a:rPr>
              <a:t>If you have different projects, you can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change the working directory for that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session, see above. Or you can type: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# Show the working directory (wd)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getwd()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# Change the wd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setwd("C:/myfolder/data")</a:t>
            </a:r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49090" y="2123440"/>
            <a:ext cx="1252220" cy="45275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1470" y="161925"/>
            <a:ext cx="45078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400" b="1"/>
              <a:t>Setup a Default Working Directory</a:t>
            </a:r>
            <a:endParaRPr lang="en-US" sz="24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2105" y="622300"/>
            <a:ext cx="10603230" cy="60528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795" y="2266950"/>
            <a:ext cx="3948430" cy="387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670" y="2477135"/>
            <a:ext cx="3529330" cy="284353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726815" y="2877820"/>
            <a:ext cx="512445" cy="1524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800340" y="3420745"/>
            <a:ext cx="845185" cy="1524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7146290" y="3316605"/>
            <a:ext cx="528320" cy="22415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0370" y="43180"/>
            <a:ext cx="33483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Change Appearance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6905" y="565150"/>
            <a:ext cx="10375265" cy="6064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045" y="1517650"/>
            <a:ext cx="5094605" cy="470789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4083685" y="2820035"/>
            <a:ext cx="721360" cy="1016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65860" y="950595"/>
            <a:ext cx="62128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ym typeface="+mn-ea"/>
              </a:rPr>
              <a:t>- Basic R syntax and data types</a:t>
            </a:r>
            <a:endParaRPr lang="en-US" b="1"/>
          </a:p>
          <a:p>
            <a:r>
              <a:rPr lang="en-US" b="1">
                <a:sym typeface="+mn-ea"/>
              </a:rPr>
              <a:t>- Working with variables and basic arithmetic operations</a:t>
            </a:r>
            <a:endParaRPr lang="en-US"/>
          </a:p>
        </p:txBody>
      </p:sp>
      <p:pic>
        <p:nvPicPr>
          <p:cNvPr id="3" name="Content Placeholder 2" descr="Basic R data typ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6845" y="1828165"/>
            <a:ext cx="8718550" cy="45707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65860" y="196215"/>
            <a:ext cx="32658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Let’s Begin Hand’s-on</a:t>
            </a:r>
            <a:endParaRPr 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7030" y="1124585"/>
            <a:ext cx="1140015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ym typeface="+mn-ea"/>
              </a:rPr>
              <a:t>Time: 3pm-4pm</a:t>
            </a:r>
            <a:endParaRPr lang="en-US" sz="2400" b="1"/>
          </a:p>
          <a:p>
            <a:r>
              <a:rPr lang="en-US" sz="2400" b="1">
                <a:sym typeface="+mn-ea"/>
              </a:rPr>
              <a:t>Module 2:</a:t>
            </a:r>
            <a:r>
              <a:rPr lang="en-US" sz="2400" b="1">
                <a:solidFill>
                  <a:schemeClr val="accent5"/>
                </a:solidFill>
                <a:sym typeface="+mn-ea"/>
              </a:rPr>
              <a:t> Data Manipulation with R</a:t>
            </a:r>
            <a:endParaRPr lang="en-US" sz="2400" b="1">
              <a:solidFill>
                <a:schemeClr val="accent5"/>
              </a:solidFill>
            </a:endParaRPr>
          </a:p>
          <a:p>
            <a:r>
              <a:rPr lang="en-US" sz="2400" b="1">
                <a:sym typeface="+mn-ea"/>
              </a:rPr>
              <a:t>- Importing data into R from different file formats (e.g., CSV, Excel)</a:t>
            </a:r>
            <a:endParaRPr lang="en-US" sz="2400" b="1">
              <a:sym typeface="+mn-ea"/>
            </a:endParaRPr>
          </a:p>
          <a:p>
            <a:endParaRPr lang="en-US" sz="2400" b="1"/>
          </a:p>
          <a:p>
            <a:r>
              <a:rPr lang="en-US" sz="2400" b="1">
                <a:sym typeface="+mn-ea"/>
              </a:rPr>
              <a:t>- Exploring and understanding data structures in R (vectors, matrices, data frames)</a:t>
            </a:r>
            <a:endParaRPr lang="en-US" sz="2400" b="1">
              <a:sym typeface="+mn-ea"/>
            </a:endParaRPr>
          </a:p>
          <a:p>
            <a:endParaRPr lang="en-US" sz="2400" b="1"/>
          </a:p>
          <a:p>
            <a:r>
              <a:rPr lang="en-US" sz="2400" b="1">
                <a:sym typeface="+mn-ea"/>
              </a:rPr>
              <a:t>- Data cleaning and preprocessing techniques (handling missing values, data transformations)</a:t>
            </a:r>
            <a:endParaRPr lang="en-US" sz="2400" b="1"/>
          </a:p>
          <a:p>
            <a:endParaRPr lang="en-US" sz="24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8005" y="1330325"/>
            <a:ext cx="1108011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Time: 4pm-5pm</a:t>
            </a:r>
            <a:endParaRPr lang="en-US" sz="2800" b="1"/>
          </a:p>
          <a:p>
            <a:r>
              <a:rPr lang="en-US" sz="2800" b="1">
                <a:sym typeface="+mn-ea"/>
              </a:rPr>
              <a:t>Module 3: 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Exploratory Data Analysis (EDA) with R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Introduction to descriptive statistics and visualization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Generating summary statistics (mean, median, standard deviation, etc.)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Creating basic data visualizations using ggplot2 package</a:t>
            </a:r>
            <a:endParaRPr lang="en-US" sz="2800" b="1"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286250" y="3106420"/>
            <a:ext cx="2870200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 OF DAY 1 </a:t>
            </a:r>
            <a:endParaRPr lang="en-US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51790" y="1167130"/>
            <a:ext cx="1140269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ym typeface="+mn-ea"/>
              </a:rPr>
              <a:t>Day 2:</a:t>
            </a:r>
            <a:endParaRPr lang="en-US" sz="3200" b="1">
              <a:sym typeface="+mn-ea"/>
            </a:endParaRPr>
          </a:p>
          <a:p>
            <a:endParaRPr lang="en-US" sz="2400" b="1"/>
          </a:p>
          <a:p>
            <a:r>
              <a:rPr lang="en-US" sz="2400" b="1">
                <a:sym typeface="+mn-ea"/>
              </a:rPr>
              <a:t>Time: 2pm-3pm</a:t>
            </a:r>
            <a:endParaRPr lang="en-US" sz="2400" b="1"/>
          </a:p>
          <a:p>
            <a:r>
              <a:rPr lang="en-US" sz="2400" b="1">
                <a:sym typeface="+mn-ea"/>
              </a:rPr>
              <a:t>Module 4: </a:t>
            </a:r>
            <a:r>
              <a:rPr lang="en-US" sz="2400" b="1">
                <a:solidFill>
                  <a:schemeClr val="accent5"/>
                </a:solidFill>
                <a:sym typeface="+mn-ea"/>
              </a:rPr>
              <a:t>Statistical Analysis with R</a:t>
            </a:r>
            <a:endParaRPr lang="en-US" sz="2400" b="1"/>
          </a:p>
          <a:p>
            <a:r>
              <a:rPr lang="en-US" sz="2400" b="1">
                <a:sym typeface="+mn-ea"/>
              </a:rPr>
              <a:t>- Introduction to statistical concepts in R (hypothesis testing, confidence intervals)</a:t>
            </a:r>
            <a:endParaRPr lang="en-US" sz="2400" b="1">
              <a:sym typeface="+mn-ea"/>
            </a:endParaRPr>
          </a:p>
          <a:p>
            <a:endParaRPr lang="en-US" sz="2400" b="1"/>
          </a:p>
          <a:p>
            <a:r>
              <a:rPr lang="en-US" sz="2400" b="1">
                <a:sym typeface="+mn-ea"/>
              </a:rPr>
              <a:t>- Conducting t-tests and chi-square tests for categorical data</a:t>
            </a:r>
            <a:endParaRPr lang="en-US" sz="2400" b="1">
              <a:sym typeface="+mn-ea"/>
            </a:endParaRPr>
          </a:p>
          <a:p>
            <a:endParaRPr lang="en-US" sz="2400" b="1"/>
          </a:p>
          <a:p>
            <a:r>
              <a:rPr lang="en-US" sz="2400" b="1">
                <a:sym typeface="+mn-ea"/>
              </a:rPr>
              <a:t>- Performing linear regression analysis to model relationships between variables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63880" y="1084580"/>
            <a:ext cx="1106424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Time: 3pm-4pm</a:t>
            </a:r>
            <a:endParaRPr lang="en-US" sz="2800" b="1"/>
          </a:p>
          <a:p>
            <a:r>
              <a:rPr lang="en-US" sz="2800" b="1">
                <a:sym typeface="+mn-ea"/>
              </a:rPr>
              <a:t>Module 5: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 Data Visualization with R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Advanced data visualization using ggplot2 package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Customizing plots (colors, labels, themes)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Creating complex visualizations such as bar plots, histograms, box plots, and heatmaps</a:t>
            </a:r>
            <a:endParaRPr lang="en-US" sz="2800" b="1"/>
          </a:p>
          <a:p>
            <a:endParaRPr lang="en-US" sz="28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386840" y="1443990"/>
            <a:ext cx="993330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Time: 4pm-5pm</a:t>
            </a:r>
            <a:endParaRPr lang="en-US" sz="2800" b="1"/>
          </a:p>
          <a:p>
            <a:r>
              <a:rPr lang="en-US" sz="2800" b="1">
                <a:sym typeface="+mn-ea"/>
              </a:rPr>
              <a:t>Module 6: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 Introduction to Machine Learning with R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Overview of machine learning concepts and algorithms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Supervised learning: classification and regression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Unsupervised learning: clustering and dimensionality reduction</a:t>
            </a:r>
            <a:endParaRPr lang="en-US" sz="2800" b="1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86250" y="3106420"/>
            <a:ext cx="2870200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 OF DAY 2 </a:t>
            </a:r>
            <a:endParaRPr lang="en-US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23265" y="1161415"/>
            <a:ext cx="1107884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Day 3:</a:t>
            </a:r>
            <a:endParaRPr lang="en-US" sz="2800" b="1"/>
          </a:p>
          <a:p>
            <a:r>
              <a:rPr lang="en-US" sz="2800" b="1">
                <a:sym typeface="+mn-ea"/>
              </a:rPr>
              <a:t>Time: 2pm-3pm</a:t>
            </a:r>
            <a:endParaRPr lang="en-US" sz="2800" b="1"/>
          </a:p>
          <a:p>
            <a:r>
              <a:rPr lang="en-US" sz="2800" b="1">
                <a:sym typeface="+mn-ea"/>
              </a:rPr>
              <a:t>Module 7: 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Data Wrangling and Transformation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Advanced data manipulation techniques using dplyr and tidyr packages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Aggregating and summarizing data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Reshaping data from wide to long format and vice versa</a:t>
            </a:r>
            <a:endParaRPr lang="en-US" sz="2800" b="1"/>
          </a:p>
          <a:p>
            <a:endParaRPr lang="en-US" sz="2800" b="1"/>
          </a:p>
          <a:p>
            <a:endParaRPr lang="en-US" sz="28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99185" y="1197610"/>
            <a:ext cx="999363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Time: 3pm-4pm</a:t>
            </a:r>
            <a:endParaRPr lang="en-US" sz="2800" b="1"/>
          </a:p>
          <a:p>
            <a:r>
              <a:rPr lang="en-US" sz="2800" b="1">
                <a:sym typeface="+mn-ea"/>
              </a:rPr>
              <a:t>Module 8: 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Introduction to Big Data Analytics with R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Overview of big data concepts and challenges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Introduction to parallel computing and distributed systems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Working with big data using R packages (e.g., dplyr, data.table)</a:t>
            </a:r>
            <a:endParaRPr lang="en-US" sz="2800" b="1"/>
          </a:p>
          <a:p>
            <a:endParaRPr lang="en-US" sz="2800" b="1"/>
          </a:p>
          <a:p>
            <a:endParaRPr lang="en-US" sz="28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397125" y="1443990"/>
            <a:ext cx="60547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ym typeface="+mn-ea"/>
              </a:rPr>
              <a:t>Time: 4pm-5pm</a:t>
            </a:r>
            <a:endParaRPr lang="en-US" b="1"/>
          </a:p>
          <a:p>
            <a:r>
              <a:rPr lang="en-US" b="1">
                <a:sym typeface="+mn-ea"/>
              </a:rPr>
              <a:t>Module 9: </a:t>
            </a:r>
            <a:r>
              <a:rPr lang="en-US" b="1">
                <a:solidFill>
                  <a:schemeClr val="accent5"/>
                </a:solidFill>
                <a:sym typeface="+mn-ea"/>
              </a:rPr>
              <a:t>Data Science Project Workflow</a:t>
            </a:r>
            <a:endParaRPr lang="en-US" b="1"/>
          </a:p>
          <a:p>
            <a:r>
              <a:rPr lang="en-US" b="1">
                <a:sym typeface="+mn-ea"/>
              </a:rPr>
              <a:t>- Understanding the end-to-end data science project lifecycle</a:t>
            </a:r>
            <a:endParaRPr lang="en-US" b="1"/>
          </a:p>
          <a:p>
            <a:r>
              <a:rPr lang="en-US" b="1">
                <a:sym typeface="+mn-ea"/>
              </a:rPr>
              <a:t>- Formulating a data problem and defining project objectives</a:t>
            </a:r>
            <a:endParaRPr lang="en-US" b="1"/>
          </a:p>
          <a:p>
            <a:r>
              <a:rPr lang="en-US" b="1">
                <a:sym typeface="+mn-ea"/>
              </a:rPr>
              <a:t>- Data acquisition and preparation</a:t>
            </a:r>
            <a:endParaRPr lang="en-US" b="1"/>
          </a:p>
          <a:p>
            <a:r>
              <a:rPr lang="en-US" b="1">
                <a:sym typeface="+mn-ea"/>
              </a:rPr>
              <a:t>- Exploratory data analysis and feature engineering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4856480" y="3137535"/>
            <a:ext cx="2479040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END OF DAY 3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650740" y="3075940"/>
            <a:ext cx="28905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/>
              <a:t>WHAT NEXT?</a:t>
            </a:r>
            <a:endParaRPr lang="en-US" sz="4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05130" y="890270"/>
            <a:ext cx="1133475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ym typeface="+mn-ea"/>
              </a:rPr>
              <a:t>Extras(To be given as a project or assignment)</a:t>
            </a:r>
            <a:endParaRPr lang="en-US" sz="2800" b="1"/>
          </a:p>
          <a:p>
            <a:r>
              <a:rPr lang="en-US" sz="2800" b="1">
                <a:sym typeface="+mn-ea"/>
              </a:rPr>
              <a:t>Module 10: </a:t>
            </a:r>
            <a:r>
              <a:rPr lang="en-US" sz="2800" b="1">
                <a:solidFill>
                  <a:schemeClr val="accent5"/>
                </a:solidFill>
                <a:sym typeface="+mn-ea"/>
              </a:rPr>
              <a:t>Case Studies and Practical Applications</a:t>
            </a:r>
            <a:endParaRPr lang="en-US" sz="2800" b="1">
              <a:solidFill>
                <a:schemeClr val="accent5"/>
              </a:solidFill>
            </a:endParaRPr>
          </a:p>
          <a:p>
            <a:r>
              <a:rPr lang="en-US" sz="2800" b="1">
                <a:sym typeface="+mn-ea"/>
              </a:rPr>
              <a:t>- Applying R in real-world data science and data analytics scenarios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Case studies across various domains (e.g., finance, healthcare, marketing)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Solving practical problems using R and relevant packages</a:t>
            </a:r>
            <a:endParaRPr lang="en-US" sz="2800" b="1">
              <a:sym typeface="+mn-ea"/>
            </a:endParaRPr>
          </a:p>
          <a:p>
            <a:endParaRPr lang="en-US" sz="2800" b="1"/>
          </a:p>
          <a:p>
            <a:r>
              <a:rPr lang="en-US" sz="2800" b="1">
                <a:sym typeface="+mn-ea"/>
              </a:rPr>
              <a:t>- Presenting and interpreting results effectively</a:t>
            </a:r>
            <a:endParaRPr lang="en-US" sz="2800" b="1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11332</Words>
  <Application>WPS Presentation</Application>
  <PresentationFormat>Widescreen</PresentationFormat>
  <Paragraphs>354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Introduction to R for Data Science &amp; Data Analytics</vt:lpstr>
      <vt:lpstr>Software For This Virtual Class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for Data Science &amp; Data Analytics</dc:title>
  <dc:creator/>
  <cp:lastModifiedBy>Ayobami Salau</cp:lastModifiedBy>
  <cp:revision>11</cp:revision>
  <dcterms:created xsi:type="dcterms:W3CDTF">2023-05-26T11:43:00Z</dcterms:created>
  <dcterms:modified xsi:type="dcterms:W3CDTF">2025-09-12T10:53:13Z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15D42BBF54004951AC7362A55158DEDD</vt:lpwstr>
  </property>
  <property fmtid="{D5CDD505-2E9C-101B-9397-08002B2CF9AE}" pid="3" name="KSOProductBuildVer">
    <vt:lpwstr>1033-12.2.0.22549</vt:lpwstr>
  </property>
</Properties>
</file>